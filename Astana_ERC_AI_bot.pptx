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427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1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0332720" y="3840480"/>
            <a:ext cx="3200400" cy="32004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ТОО «АСТАНА-ЕРЦ»  ·  MVP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AI-бот поддержки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жителей и поставщиков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первая линия поддержки: отвечает на вопросы, принимает заявки, помогает с квитанциями и показаниями, поддерживает русский и казахский языки</a:t>
            </a:r>
            <a:endParaRPr lang="en-US" sz="1500" dirty="0"/>
          </a:p>
        </p:txBody>
      </p:sp>
      <p:pic>
        <p:nvPicPr>
          <p:cNvPr id="8" name="Image 0" descr="icons/comment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8064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5760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поддержки</a:t>
            </a:r>
            <a:endParaRPr lang="en-US" sz="1200" dirty="0"/>
          </a:p>
        </p:txBody>
      </p:sp>
      <p:pic>
        <p:nvPicPr>
          <p:cNvPr id="10" name="Image 1" descr="icons/langu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58064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0168" y="5760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KZ</a:t>
            </a:r>
            <a:endParaRPr lang="en-US" sz="1200" dirty="0"/>
          </a:p>
        </p:txBody>
      </p:sp>
      <p:pic>
        <p:nvPicPr>
          <p:cNvPr id="12" name="Image 2" descr="icons/robot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58064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3328" y="5760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база знаний</a:t>
            </a:r>
            <a:endParaRPr lang="en-US" sz="1200" dirty="0"/>
          </a:p>
        </p:txBody>
      </p:sp>
      <p:pic>
        <p:nvPicPr>
          <p:cNvPr id="14" name="Image 3" descr="icons/chart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58064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76488" y="5760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ИДЕЯ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просто чат-бот, а система поддержки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работает как первая линия поддержки для жителей и поставщиков, а админка — как рабочее место для контроля, обработки заявок и улучшения качества ответов.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27066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icons/heads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25496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310128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Быстрые ответы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" y="363016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вопросы по оплате, ЕПД, показаниям закрываются без участия сотрудника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14216" y="24688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270248" y="27066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825496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70248" y="3310128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 заявок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70248" y="363016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Корректировки показаний, обращения и записи к руководству фиксируются и не теряются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71232" y="2468880"/>
            <a:ext cx="3310128" cy="1783080"/>
          </a:xfrm>
          <a:prstGeom prst="roundRect">
            <a:avLst>
              <a:gd name="adj" fmla="val 4615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7827264" y="27066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2825496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27264" y="3310128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поставщиков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827264" y="363016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поставщика находится по названию, коду или БИН за секунды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5262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icons/bulb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77316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6817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задача: быстро отвечать на типовые вопросы, помогать по оплатам и показаниям, находить менеджеров поставщиков и собирать проблемные вопросы для улучшения базы знаний.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ЖИТЕЛЕЙ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 поддержки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Житель пишет вопрос обычными словами — об оплате, ЕПД, показаниях, лицевом счёте, поставщике. Бот отвечает коротко и по смыслу.</a:t>
            </a:r>
            <a:endParaRPr lang="en-US" sz="1300" dirty="0"/>
          </a:p>
        </p:txBody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22576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и двойная сумма</a:t>
            </a:r>
            <a:endParaRPr lang="en-US" sz="1150" dirty="0"/>
          </a:p>
        </p:txBody>
      </p:sp>
      <p:pic>
        <p:nvPicPr>
          <p:cNvPr id="7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22576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2152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ЕПД и квитанции</a:t>
            </a:r>
            <a:endParaRPr lang="en-US" sz="1150" dirty="0"/>
          </a:p>
        </p:txBody>
      </p:sp>
      <p:pic>
        <p:nvPicPr>
          <p:cNvPr id="9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9776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3232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после 25 числа</a:t>
            </a:r>
            <a:endParaRPr lang="en-US" sz="1150" dirty="0"/>
          </a:p>
        </p:txBody>
      </p:sp>
      <p:pic>
        <p:nvPicPr>
          <p:cNvPr id="13" name="Image 4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36976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3232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показаний</a:t>
            </a:r>
            <a:endParaRPr lang="en-US" sz="1150" dirty="0"/>
          </a:p>
        </p:txBody>
      </p:sp>
      <p:pic>
        <p:nvPicPr>
          <p:cNvPr id="17" name="Image 6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94176"/>
            <a:ext cx="164592" cy="16459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13232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и менеджер</a:t>
            </a:r>
            <a:endParaRPr lang="en-US" sz="1150" dirty="0"/>
          </a:p>
        </p:txBody>
      </p:sp>
      <p:pic>
        <p:nvPicPr>
          <p:cNvPr id="19" name="Image 7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660904"/>
            <a:ext cx="164592" cy="1645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525012" y="257852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</a:t>
            </a:r>
            <a:endParaRPr lang="en-US" sz="1150" dirty="0"/>
          </a:p>
        </p:txBody>
      </p:sp>
      <p:pic>
        <p:nvPicPr>
          <p:cNvPr id="21" name="Image 8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1376"/>
            <a:ext cx="164592" cy="16459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13232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 руководству</a:t>
            </a:r>
            <a:endParaRPr lang="en-US" sz="1150" dirty="0"/>
          </a:p>
        </p:txBody>
      </p:sp>
      <p:sp>
        <p:nvSpPr>
          <p:cNvPr id="23" name="Shape 12"/>
          <p:cNvSpPr/>
          <p:nvPr/>
        </p:nvSpPr>
        <p:spPr>
          <a:xfrm>
            <a:off x="457200" y="46177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9" descr="icons/warnin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18888"/>
            <a:ext cx="329184" cy="32918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097280" y="468172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вопрос не покрыт базой — бот честно говорит, что точной информации нет, и отмечает тему для пополнения базы знаний.</a:t>
            </a:r>
            <a:endParaRPr lang="en-US" sz="1050" dirty="0"/>
          </a:p>
        </p:txBody>
      </p:sp>
      <p:sp>
        <p:nvSpPr>
          <p:cNvPr id="27" name="Text 15"/>
          <p:cNvSpPr/>
          <p:nvPr/>
        </p:nvSpPr>
        <p:spPr>
          <a:xfrm>
            <a:off x="6336792" y="8778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28" name="Image 10" descr="icons/camera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92" y="2866644"/>
            <a:ext cx="457200" cy="4572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336792" y="34792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чата поддержки — пример диалога с жителем</a:t>
            </a:r>
            <a:endParaRPr lang="en-US" sz="11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42D2CCB-9071-77BB-A65A-0CD7F99069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026" t="9798" r="-1" b="1089"/>
          <a:stretch>
            <a:fillRect/>
          </a:stretch>
        </p:blipFill>
        <p:spPr>
          <a:xfrm>
            <a:off x="5989320" y="810882"/>
            <a:ext cx="5849952" cy="5106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ЖИТЕЛЕЙ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Двуязычность и быстрые подсказки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94944" y="17647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ons/langu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745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830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Ответы на русском и казахском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" y="22860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пользователь выбрал казахский язык или написал вопрос на казахском — бот отвечает на казахском. Подсказки и похожие вопросы тоже идут на казахском. Система готовится под двуязычное обслуживание жителей.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Сценарные маршруты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767328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57200" y="37673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47088" y="3767328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37673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Показания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36976" y="3767328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3236976" y="37673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Квитанция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26864" y="3767328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4626864" y="376732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37083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Аккуратные маршруты — без навязчивых карточек — помогают быстро начать правильный диалог.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49834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Быстрые подсказки после ответа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5349240"/>
            <a:ext cx="1755648" cy="411480"/>
          </a:xfrm>
          <a:prstGeom prst="roundRect">
            <a:avLst>
              <a:gd name="adj" fmla="val 48889"/>
            </a:avLst>
          </a:prstGeom>
          <a:solidFill>
            <a:srgbClr val="F4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457200" y="53492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после 25-го?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58568" y="5349240"/>
            <a:ext cx="1755648" cy="411480"/>
          </a:xfrm>
          <a:prstGeom prst="roundRect">
            <a:avLst>
              <a:gd name="adj" fmla="val 48889"/>
            </a:avLst>
          </a:prstGeom>
          <a:solidFill>
            <a:srgbClr val="F4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2258568" y="53492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сумма двойная?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059936" y="5349240"/>
            <a:ext cx="1755648" cy="411480"/>
          </a:xfrm>
          <a:prstGeom prst="roundRect">
            <a:avLst>
              <a:gd name="adj" fmla="val 48889"/>
            </a:avLst>
          </a:prstGeom>
          <a:solidFill>
            <a:srgbClr val="F4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4059936" y="534924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заявки</a:t>
            </a:r>
            <a:endParaRPr lang="en-US" sz="95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6B4D71A-5338-F2A6-307E-982F13D6D6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692"/>
          <a:stretch>
            <a:fillRect/>
          </a:stretch>
        </p:blipFill>
        <p:spPr>
          <a:xfrm>
            <a:off x="6615384" y="3307007"/>
            <a:ext cx="2108354" cy="310576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27BCD57-15A0-7626-4E4D-8D7FC0B2A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842" y="733978"/>
            <a:ext cx="4142750" cy="25937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08E4A6E-D3FF-11FA-BB58-7F6A86FC5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695" y="3530247"/>
            <a:ext cx="2290948" cy="2687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ЖИТЕЛЕЙ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Заявка на корректировку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показаний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человек пишет, что нужно исправить показания счётчика, бот запускает форму и собирает данные: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Лицевой счёт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счётчика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Правильное показание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0" descr="icons/clipboard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928616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4782312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отправки заявка сохраняется в базе и появляется в админке. Администратор ставит статус: новая, в работе, выполнена, отклонена.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36792" y="8778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22" name="Image 1" descr="icons/camera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092" y="2866644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36792" y="34792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заявки на корректировку показаний</a:t>
            </a:r>
            <a:endParaRPr lang="en-US" sz="11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6F3B010-0D1C-F595-6131-1D67A3D01B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37"/>
          <a:stretch>
            <a:fillRect/>
          </a:stretch>
        </p:blipFill>
        <p:spPr>
          <a:xfrm>
            <a:off x="5843016" y="627486"/>
            <a:ext cx="6285640" cy="5126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ЖИТЕЛЕЙ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и запись к руководству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385560" y="349758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623304" y="56921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67894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6808" y="58750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Обычное обращение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23304" y="1172718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случаев, когда вопрос нельзя решить одним ответом бота. Форма собирает: имя, тему, сообщение, контакт, файлы и документы.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2680" y="3044952"/>
            <a:ext cx="5532120" cy="3657600"/>
          </a:xfrm>
          <a:prstGeom prst="roundRect">
            <a:avLst>
              <a:gd name="adj" fmla="val 2250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40424" y="3264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icons/lea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24" y="3374136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3928" y="328269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к руководству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0424" y="38679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показывает ближайшие даты и собирает: имя, фамилию, руководителя, дату, телефон или email. Заявка сохраняется в админке.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0424" y="4828032"/>
            <a:ext cx="5056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6623304" y="49011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Генеральный директор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23304" y="5138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Бекенов А.Б.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403080" y="51389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Среда, 15:00–16:00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40424" y="5724144"/>
            <a:ext cx="50566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/>
          <p:nvPr/>
        </p:nvSpPr>
        <p:spPr>
          <a:xfrm>
            <a:off x="6623304" y="57972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директора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623304" y="6035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Акижанов М.Ж.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403080" y="6035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Четверг, 15:00–16:00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582156" y="2045366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администратор вручную просматривает заявку и передаёт офис-менеджеру.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7200" y="47091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9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594360" y="48737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25" name="Image 2" descr="icons/camera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6489" y="5174590"/>
            <a:ext cx="270662" cy="27066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4360" y="56007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обращения / записи к руководству</a:t>
            </a:r>
            <a:endParaRPr lang="en-US" sz="11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1BE8C61-61CA-0CBA-F88E-B6419EC8F7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91" y="1601966"/>
            <a:ext cx="6219735" cy="48719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ПОСТАВЩИКОВ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карточек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поставщиков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находит поставщика по названию, коду или БИН и сразу показывает его менеджера — без ручного поиска в Excel.</a:t>
            </a:r>
            <a:endParaRPr lang="en-US" sz="1300" dirty="0"/>
          </a:p>
        </p:txBody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4872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225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поставщика</a:t>
            </a:r>
            <a:endParaRPr lang="en-US" sz="1100" dirty="0"/>
          </a:p>
        </p:txBody>
      </p:sp>
      <p:pic>
        <p:nvPicPr>
          <p:cNvPr id="7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404872"/>
            <a:ext cx="146304" cy="14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4720" y="23225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организации</a:t>
            </a:r>
            <a:endParaRPr lang="en-US" sz="1100" dirty="0"/>
          </a:p>
        </p:txBody>
      </p:sp>
      <p:pic>
        <p:nvPicPr>
          <p:cNvPr id="9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0632"/>
            <a:ext cx="146304" cy="1463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268833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</a:t>
            </a:r>
            <a:endParaRPr lang="en-US" sz="1100" dirty="0"/>
          </a:p>
        </p:txBody>
      </p:sp>
      <p:pic>
        <p:nvPicPr>
          <p:cNvPr id="11" name="Image 3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770632"/>
            <a:ext cx="146304" cy="1463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74720" y="268833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</a:t>
            </a:r>
            <a:endParaRPr lang="en-US" sz="1100" dirty="0"/>
          </a:p>
        </p:txBody>
      </p:sp>
      <p:pic>
        <p:nvPicPr>
          <p:cNvPr id="13" name="Image 4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146304" cy="1463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" y="305409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и район</a:t>
            </a:r>
            <a:endParaRPr lang="en-US" sz="1100" dirty="0"/>
          </a:p>
        </p:txBody>
      </p:sp>
      <p:pic>
        <p:nvPicPr>
          <p:cNvPr id="15" name="Image 5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136392"/>
            <a:ext cx="146304" cy="1463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74720" y="305409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Председатель</a:t>
            </a:r>
            <a:endParaRPr lang="en-US" sz="1100" dirty="0"/>
          </a:p>
        </p:txBody>
      </p:sp>
      <p:pic>
        <p:nvPicPr>
          <p:cNvPr id="17" name="Image 6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2152"/>
            <a:ext cx="146304" cy="14630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5800" y="34198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100" dirty="0"/>
          </a:p>
        </p:txBody>
      </p:sp>
      <p:pic>
        <p:nvPicPr>
          <p:cNvPr id="19" name="Image 7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502152"/>
            <a:ext cx="146304" cy="14630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474720" y="34198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100" dirty="0"/>
          </a:p>
        </p:txBody>
      </p:sp>
      <p:pic>
        <p:nvPicPr>
          <p:cNvPr id="21" name="Image 8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7912"/>
            <a:ext cx="146304" cy="14630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85800" y="37856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и фото</a:t>
            </a:r>
            <a:endParaRPr lang="en-US" sz="1100" dirty="0"/>
          </a:p>
        </p:txBody>
      </p:sp>
      <p:pic>
        <p:nvPicPr>
          <p:cNvPr id="23" name="Image 9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867912"/>
            <a:ext cx="146304" cy="14630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3474720" y="37856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pic>
        <p:nvPicPr>
          <p:cNvPr id="25" name="Image 1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33672"/>
            <a:ext cx="146304" cy="14630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85800" y="41513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расчёта</a:t>
            </a:r>
            <a:endParaRPr lang="en-US" sz="1100" dirty="0"/>
          </a:p>
        </p:txBody>
      </p:sp>
      <p:sp>
        <p:nvSpPr>
          <p:cNvPr id="27" name="Shape 14"/>
          <p:cNvSpPr/>
          <p:nvPr/>
        </p:nvSpPr>
        <p:spPr>
          <a:xfrm>
            <a:off x="457200" y="47091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11" descr="icons/truck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928616"/>
            <a:ext cx="384048" cy="38404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188720" y="4782312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или сотрудник быстро понимает, кто его менеджер, не тратя время на ручной поиск.</a:t>
            </a:r>
            <a:endParaRPr lang="en-US" sz="1150" dirty="0"/>
          </a:p>
        </p:txBody>
      </p:sp>
      <p:sp>
        <p:nvSpPr>
          <p:cNvPr id="30" name="Shape 16"/>
          <p:cNvSpPr/>
          <p:nvPr/>
        </p:nvSpPr>
        <p:spPr>
          <a:xfrm>
            <a:off x="6199632" y="713232"/>
            <a:ext cx="5532120" cy="5440680"/>
          </a:xfrm>
          <a:prstGeom prst="roundRect">
            <a:avLst>
              <a:gd name="adj" fmla="val 1345"/>
            </a:avLst>
          </a:prstGeom>
          <a:solidFill>
            <a:srgbClr val="F4F9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17"/>
          <p:cNvSpPr/>
          <p:nvPr/>
        </p:nvSpPr>
        <p:spPr>
          <a:xfrm>
            <a:off x="6336792" y="8778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32" name="Image 12" descr="icons/camera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92" y="2866644"/>
            <a:ext cx="457200" cy="45720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336792" y="34792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поставщика с найденным менеджером</a:t>
            </a:r>
            <a:endParaRPr lang="en-US" sz="1100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A3892D0-C6D3-B77D-1641-2AF8C01EFC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00"/>
          <a:stretch>
            <a:fillRect/>
          </a:stretch>
        </p:blipFill>
        <p:spPr>
          <a:xfrm>
            <a:off x="5852160" y="458652"/>
            <a:ext cx="6076252" cy="59158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ДЛЯ САЙТА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Виджет для сайта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Астана-ЕРЦ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отдельная страница предпросмотра widget-preview — посмотреть, как бот будет выглядеть на сайте.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6829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22951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чат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36829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429000" y="229514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текущему чату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7523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429000" y="26791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статусов заявок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RU / KZ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3136392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Полноэкранный режим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3152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квитанции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35204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429000" y="34472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ответа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31520" y="38313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Озвучка ответа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390448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3429000" y="383133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заявок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8853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31520" y="421538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поставщиков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713232"/>
            <a:ext cx="5532120" cy="5440680"/>
          </a:xfrm>
          <a:prstGeom prst="roundRect">
            <a:avLst>
              <a:gd name="adj" fmla="val 1345"/>
            </a:avLst>
          </a:prstGeom>
          <a:solidFill>
            <a:srgbClr val="F4F9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6336792" y="8778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29" name="Image 0" descr="icons/camera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092" y="2866644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36792" y="34792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на странице widget-preview</a:t>
            </a:r>
            <a:endParaRPr lang="en-US" sz="110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9BC9636-D90C-BD2A-3F76-43BDEB21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96543"/>
            <a:ext cx="6287330" cy="59186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Обзор — центр управления AI-поддержкой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dashboard администратора показывает состояние всей системы в реальном времени.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icons/databas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05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96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в базе знаний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63824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1" descr="icons/check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13055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46704" y="2496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записи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70448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2" descr="icons/comment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1305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3328" y="2496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577072" y="196596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icons/list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213055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59952" y="2496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57200" y="3182112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4" descr="icons/clipboard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4670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" y="371246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заявки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163824" y="3182112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5" descr="icons/cogs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3346704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346704" y="371246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в работе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870448" y="3182112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4" name="Image 6" descr="icons/headset_m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3346704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53328" y="371246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к оператору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8577072" y="3182112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7" descr="icons/warning_m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9952" y="3346704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759952" y="371246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Пробелы в базе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457200" y="4202193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блоки: операторская очередь · качество ответов · черновики для базы знаний · инсайты по состоянию проекта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457200" y="484632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4F9F9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1"/>
          <p:cNvSpPr/>
          <p:nvPr/>
        </p:nvSpPr>
        <p:spPr>
          <a:xfrm>
            <a:off x="594360" y="50109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СКРИНШОТА</a:t>
            </a:r>
            <a:endParaRPr lang="en-US" sz="900" dirty="0"/>
          </a:p>
        </p:txBody>
      </p:sp>
      <p:pic>
        <p:nvPicPr>
          <p:cNvPr id="32" name="Image 8" descr="icons/camera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7957" y="5234026"/>
            <a:ext cx="234086" cy="23408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94360" y="5623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дашборд администратора (Обзор)</a:t>
            </a:r>
            <a:endParaRPr lang="en-US" sz="1100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08EB9FB-28A7-B8DD-B6D1-B06DDFA0FAF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31753"/>
          <a:stretch>
            <a:fillRect/>
          </a:stretch>
        </p:blipFill>
        <p:spPr>
          <a:xfrm>
            <a:off x="2999232" y="4869705"/>
            <a:ext cx="5614649" cy="1439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знаний — главный источник правды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94944" y="17282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8425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313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знаний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" y="282549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77824" y="27249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Добавлять ответы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" y="319125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77824" y="30906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Редактировать ответы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" y="35570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77824" y="34564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Задавать категорию и приоритет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" y="39227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77824" y="382219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Отмечать как проверенную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" y="428853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877824" y="41879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Удалять ненужные записи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88536" y="150876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526280" y="17282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1842516"/>
            <a:ext cx="246888" cy="2468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2313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26280" y="282549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4709160" y="27249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Непроверенные записи попадают сюда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26280" y="319125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1"/>
          <p:cNvSpPr/>
          <p:nvPr/>
        </p:nvSpPr>
        <p:spPr>
          <a:xfrm>
            <a:off x="4709160" y="30906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открывает и исправляет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26280" y="35570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3"/>
          <p:cNvSpPr/>
          <p:nvPr/>
        </p:nvSpPr>
        <p:spPr>
          <a:xfrm>
            <a:off x="4709160" y="34564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Подтверждает перед публикацией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26280" y="39227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/>
          <p:nvPr/>
        </p:nvSpPr>
        <p:spPr>
          <a:xfrm>
            <a:off x="4709160" y="382219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не отвечает неофициально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119872" y="150876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0F9F9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8357616" y="17282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1842516"/>
            <a:ext cx="246888" cy="2468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57616" y="2313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Пробелы базы знаний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8357616" y="282549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8540496" y="27249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сохраняет тему без ответа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357616" y="319125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8540496" y="30906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«Подготовить черновик» — автозаготовка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357616" y="35570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8540496" y="34564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Заголовок, категория, структура, чек-лист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357616" y="392277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6"/>
          <p:cNvSpPr/>
          <p:nvPr/>
        </p:nvSpPr>
        <p:spPr>
          <a:xfrm>
            <a:off x="8540496" y="382219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проверки — в базу знаний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база постепенно становится сильнее: каждый неотвеченный вопрос превращается в материал для улучшения.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Заявки и поставщики — мини-CRM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Категории заявок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показаний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Обычные обращения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54680"/>
            <a:ext cx="5349240" cy="411480"/>
          </a:xfrm>
          <a:prstGeom prst="roundRect">
            <a:avLst>
              <a:gd name="adj" fmla="val 13333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40080" y="31546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 руководству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749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1605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457200" y="41605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40280" y="41605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2240280" y="41605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023360" y="416052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023360" y="41605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выполнена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54456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457200" y="454456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отклонена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40280" y="454456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2240280" y="454456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023360" y="454456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4023360" y="454456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отменена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99632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1" descr="icons/tru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13916"/>
            <a:ext cx="246888" cy="246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793992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поставщиков</a:t>
            </a:r>
            <a:endParaRPr lang="en-US" sz="1600" dirty="0"/>
          </a:p>
        </p:txBody>
      </p:sp>
      <p:pic>
        <p:nvPicPr>
          <p:cNvPr id="29" name="Image 2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185416"/>
            <a:ext cx="164592" cy="1645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55664" y="210312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Искать организацию</a:t>
            </a:r>
            <a:endParaRPr lang="en-US" sz="1150" dirty="0"/>
          </a:p>
        </p:txBody>
      </p:sp>
      <p:pic>
        <p:nvPicPr>
          <p:cNvPr id="31" name="Image 3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569464"/>
            <a:ext cx="164592" cy="16459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55664" y="248716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Искать по коду поставщика</a:t>
            </a:r>
            <a:endParaRPr lang="en-US" sz="1150" dirty="0"/>
          </a:p>
        </p:txBody>
      </p:sp>
      <p:pic>
        <p:nvPicPr>
          <p:cNvPr id="33" name="Image 4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953512"/>
            <a:ext cx="164592" cy="1645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55664" y="2871216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Редактировать карточку поставщика</a:t>
            </a:r>
            <a:endParaRPr lang="en-US" sz="1150" dirty="0"/>
          </a:p>
        </p:txBody>
      </p:sp>
      <p:pic>
        <p:nvPicPr>
          <p:cNvPr id="35" name="Image 5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337560"/>
            <a:ext cx="164592" cy="1645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55664" y="325526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менеджера</a:t>
            </a:r>
            <a:endParaRPr lang="en-US" sz="1150" dirty="0"/>
          </a:p>
        </p:txBody>
      </p:sp>
      <p:pic>
        <p:nvPicPr>
          <p:cNvPr id="37" name="Image 6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721608"/>
            <a:ext cx="164592" cy="16459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55664" y="36393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Добавлять фото менеджера</a:t>
            </a:r>
            <a:endParaRPr lang="en-US" sz="1150" dirty="0"/>
          </a:p>
        </p:txBody>
      </p:sp>
      <p:pic>
        <p:nvPicPr>
          <p:cNvPr id="39" name="Image 7" descr="icons/che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4105656"/>
            <a:ext cx="164592" cy="16459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455664" y="402336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Группировать организации по менеджерам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457200" y="50749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2"/>
          <p:cNvSpPr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Админка уже работает как мини-CRM для заявок из бота — с полным контролем статусов и истории.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ИИ даёт ответ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не живёт сам по себе — он работает поверх базы знаний и правил.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863840" cy="566928"/>
          </a:xfrm>
          <a:prstGeom prst="roundRect">
            <a:avLst>
              <a:gd name="adj" fmla="val 11290"/>
            </a:avLst>
          </a:prstGeom>
          <a:solidFill>
            <a:srgbClr val="F0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85216" y="171907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60020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пользователя — система определяет язык (RU / KZ)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67128"/>
            <a:ext cx="0" cy="16459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7863840" cy="566928"/>
          </a:xfrm>
          <a:prstGeom prst="roundRect">
            <a:avLst>
              <a:gd name="adj" fmla="val 11290"/>
            </a:avLst>
          </a:prstGeom>
          <a:solidFill>
            <a:srgbClr val="F0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85216" y="24505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icons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2374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233172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сценариев: показания, поставщик, оплата, оператор, руководство, обращение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попал в сценарий →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7863840" cy="502920"/>
          </a:xfrm>
          <a:prstGeom prst="roundRect">
            <a:avLst>
              <a:gd name="adj" fmla="val 12727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640080" y="3383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Запускается форма или заранее продуманная инструкция — без обращения к общему AI-ответу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обычный вопрос →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4361688"/>
            <a:ext cx="7863840" cy="566928"/>
          </a:xfrm>
          <a:prstGeom prst="roundRect">
            <a:avLst>
              <a:gd name="adj" fmla="val 11290"/>
            </a:avLst>
          </a:prstGeom>
          <a:solidFill>
            <a:srgbClr val="F0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585216" y="44805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53712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436168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вопроса — числовое представление смысла (поиск не по словам, а по смыслу)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389120" y="4928616"/>
            <a:ext cx="0" cy="146304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18"/>
          <p:cNvSpPr/>
          <p:nvPr/>
        </p:nvSpPr>
        <p:spPr>
          <a:xfrm>
            <a:off x="457200" y="5074920"/>
            <a:ext cx="7863840" cy="566928"/>
          </a:xfrm>
          <a:prstGeom prst="roundRect">
            <a:avLst>
              <a:gd name="adj" fmla="val 11290"/>
            </a:avLst>
          </a:prstGeom>
          <a:solidFill>
            <a:srgbClr val="F0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585216" y="51937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3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266944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4128" y="507492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похожих записей в базе знаний (title, category, content, priority, verified, source)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686800" y="1600200"/>
            <a:ext cx="3044952" cy="1078992"/>
          </a:xfrm>
          <a:prstGeom prst="roundRect">
            <a:avLst>
              <a:gd name="adj" fmla="val 6780"/>
            </a:avLst>
          </a:prstGeom>
          <a:solidFill>
            <a:srgbClr val="F4F9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2"/>
          <p:cNvSpPr/>
          <p:nvPr/>
        </p:nvSpPr>
        <p:spPr>
          <a:xfrm>
            <a:off x="8823960" y="172821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Image 4" descr="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540" y="1796796"/>
            <a:ext cx="173736" cy="1737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35440" y="1691640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Сильный проверенный ответ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823960" y="2130552"/>
            <a:ext cx="2770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Берётся напрямую из базы знаний — самый надёжный вариант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686800" y="2770632"/>
            <a:ext cx="3044952" cy="1078992"/>
          </a:xfrm>
          <a:prstGeom prst="roundRect">
            <a:avLst>
              <a:gd name="adj" fmla="val 6780"/>
            </a:avLst>
          </a:prstGeom>
          <a:solidFill>
            <a:srgbClr val="F4F9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26"/>
          <p:cNvSpPr/>
          <p:nvPr/>
        </p:nvSpPr>
        <p:spPr>
          <a:xfrm>
            <a:off x="8823960" y="28986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4" name="Image 5" descr="icons/languag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2540" y="2967228"/>
            <a:ext cx="173736" cy="1737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35440" y="2862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найден, вопрос на KZ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823960" y="3300984"/>
            <a:ext cx="2770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пересказывает на казахском, сохраняя смысл, номера, сроки, адреса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8686800" y="3941064"/>
            <a:ext cx="3044952" cy="1078992"/>
          </a:xfrm>
          <a:prstGeom prst="roundRect">
            <a:avLst>
              <a:gd name="adj" fmla="val 6780"/>
            </a:avLst>
          </a:prstGeom>
          <a:solidFill>
            <a:srgbClr val="F4F9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8" name="Shape 30"/>
          <p:cNvSpPr/>
          <p:nvPr/>
        </p:nvSpPr>
        <p:spPr>
          <a:xfrm>
            <a:off x="8823960" y="406908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9" name="Image 6" descr="icons/warn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2540" y="4137660"/>
            <a:ext cx="173736" cy="1737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235440" y="4032504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Слабое совпадение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8823960" y="4471416"/>
            <a:ext cx="2770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не выдумывает: отвечает осторожно, сохраняет пробел в базе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8686800" y="5111496"/>
            <a:ext cx="3044952" cy="1078992"/>
          </a:xfrm>
          <a:prstGeom prst="roundRect">
            <a:avLst>
              <a:gd name="adj" fmla="val 6780"/>
            </a:avLst>
          </a:prstGeom>
          <a:solidFill>
            <a:srgbClr val="F4F9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3" name="Shape 34"/>
          <p:cNvSpPr/>
          <p:nvPr/>
        </p:nvSpPr>
        <p:spPr>
          <a:xfrm>
            <a:off x="8823960" y="5239512"/>
            <a:ext cx="310896" cy="310896"/>
          </a:xfrm>
          <a:prstGeom prst="ellipse">
            <a:avLst/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4" name="Image 7" descr="icons/robo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2540" y="5308092"/>
            <a:ext cx="173736" cy="17373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235440" y="5202936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Нужна формулировка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8823960" y="5641848"/>
            <a:ext cx="27706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OpenAI-модель — только с контекстом из базы. Запрет придумывать факты, телефоны, адреса, сроки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берутся данные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636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13232" y="147218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(knowledge)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568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13232" y="186537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чатов (chat_conversations, chat_messages)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225856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Пробелы базы (knowledge_gaps)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13232" y="26517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на корректировку (meter_correction_requests)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13232" y="30449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(appeal_requests)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3232" y="343814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к руководству (leadership_appointments)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13232" y="38313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Операторская очередь (operator_handoffs)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13232" y="42245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проверки квитанций (receipt_analysis_requests)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13232" y="46177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поставщиков из Excel → JSON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508760"/>
            <a:ext cx="3776472" cy="1417320"/>
          </a:xfrm>
          <a:prstGeom prst="roundRect">
            <a:avLst>
              <a:gd name="adj" fmla="val 5806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183880" y="1737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847088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778240" y="1755648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183880" y="2286000"/>
            <a:ext cx="3319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и хранилище для всех записей системы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3108960"/>
            <a:ext cx="3776472" cy="1417320"/>
          </a:xfrm>
          <a:prstGeom prst="roundRect">
            <a:avLst>
              <a:gd name="adj" fmla="val 5806"/>
            </a:avLst>
          </a:prstGeom>
          <a:solidFill>
            <a:srgbClr val="0B3D4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8183880" y="3337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9" name="Image 1" descr="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3447288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778240" y="3355848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8183880" y="3886200"/>
            <a:ext cx="3319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и генерация ответов по контексту базы знаний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7200" y="48920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0F9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9"/>
          <p:cNvSpPr/>
          <p:nvPr/>
        </p:nvSpPr>
        <p:spPr>
          <a:xfrm>
            <a:off x="731520" y="48920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формы, заявки и диалоги стекаются в единую базу — и становятся видимыми в админке в реальном времени.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польза для Астана-ЕРЦ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ons/headse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78765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305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однотипных обращений к сотрудникам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60520" y="15087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icons/rocke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178765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43400" y="21305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Жители быстрее получают ответы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863840" y="15087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804672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icons/clipboard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178765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21305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не теряются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3" descr="icons/balanc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159252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35021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Спорные вопросы попадают в админку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160520" y="28803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5"/>
          <p:cNvSpPr/>
          <p:nvPr/>
        </p:nvSpPr>
        <p:spPr>
          <a:xfrm>
            <a:off x="434340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4" descr="icons/search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412" y="3159252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43400" y="35021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Видны слабые места базы знаний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863840" y="28803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18"/>
          <p:cNvSpPr/>
          <p:nvPr/>
        </p:nvSpPr>
        <p:spPr>
          <a:xfrm>
            <a:off x="804672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5" descr="icons/brain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3159252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46720" y="35021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обучается на реальных вопросах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57200" y="42519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1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6" descr="icons/layers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" y="4530852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080" y="48737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окно для обращений, заявок и поставщиков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160520" y="42519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24"/>
          <p:cNvSpPr/>
          <p:nvPr/>
        </p:nvSpPr>
        <p:spPr>
          <a:xfrm>
            <a:off x="4343400" y="44348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4" name="Image 7" descr="icons/language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9412" y="4530852"/>
            <a:ext cx="192024" cy="19202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343400" y="48737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казахского языка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7863840" y="42519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Shape 27"/>
          <p:cNvSpPr/>
          <p:nvPr/>
        </p:nvSpPr>
        <p:spPr>
          <a:xfrm>
            <a:off x="8046720" y="44348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8" name="Image 8" descr="icons/globe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732" y="4530852"/>
            <a:ext cx="192024" cy="19202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046720" y="48737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виджет для сайта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457200" y="562356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0"/>
          <p:cNvSpPr/>
          <p:nvPr/>
        </p:nvSpPr>
        <p:spPr>
          <a:xfrm>
            <a:off x="640080" y="5806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2" name="Image 9" descr="icons/chart_da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92" y="5902452"/>
            <a:ext cx="192024" cy="19202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40080" y="624535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качества ответов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029200" cy="50292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Цифровая первая линия поддержки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0E2A2E"/>
          </a:solidFill>
          <a:ln w="12700">
            <a:solidFill>
              <a:srgbClr val="1A4D5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сделали AI-бота поддержки для Астана-ЕРЦ, который отвечает на вопросы жителей по базе знаний, принимает заявки, помогает с квитанциями и показаниями, ищет менеджеров поставщиков, поддерживает русский и казахский языки, а также имеет админ-панель для контроля качества, обработки заявок и развития базы знаний.»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10515600" cy="1463040"/>
          </a:xfrm>
          <a:prstGeom prst="roundRect">
            <a:avLst>
              <a:gd name="adj" fmla="val 562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«Это не просто чат-бот, а MVP цифровой первой линии поддержки: бот закрывает типовые вопросы, сложные случаи передаёт в админку, а каждый неотвеченный вопрос становится материалом для улучшения базы знаний.»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ТОО «Астана-ЕРЦ»  ·  AI-бот поддержки  ·  MVP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1246</Words>
  <Application>Microsoft Office PowerPoint</Application>
  <PresentationFormat>Широкоэкранный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AI-бот поддержки — Астана-ЕРЦ</dc:title>
  <dc:subject>PptxGenJS Presentation</dc:subject>
  <dc:creator>Astana-ERC</dc:creator>
  <cp:lastModifiedBy>Muhh Gali</cp:lastModifiedBy>
  <cp:revision>3</cp:revision>
  <dcterms:created xsi:type="dcterms:W3CDTF">2026-06-29T09:44:57Z</dcterms:created>
  <dcterms:modified xsi:type="dcterms:W3CDTF">2026-06-29T17:42:39Z</dcterms:modified>
</cp:coreProperties>
</file>