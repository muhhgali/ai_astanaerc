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2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2.png"/><Relationship Id="rId8" Type="http://schemas.openxmlformats.org/officeDocument/2006/relationships/image" Target="../media/image-8-8.png"/><Relationship Id="rId9" Type="http://schemas.openxmlformats.org/officeDocument/2006/relationships/image" Target="../media/image-8-2.png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1.png"/><Relationship Id="rId4" Type="http://schemas.openxmlformats.org/officeDocument/2006/relationships/image" Target="../media/image-11-1.png"/><Relationship Id="rId5" Type="http://schemas.openxmlformats.org/officeDocument/2006/relationships/image" Target="../media/image-11-1.png"/><Relationship Id="rId6" Type="http://schemas.openxmlformats.org/officeDocument/2006/relationships/image" Target="../media/image-11-1.png"/><Relationship Id="rId7" Type="http://schemas.openxmlformats.org/officeDocument/2006/relationships/image" Target="../media/image-11-1.png"/><Relationship Id="rId8" Type="http://schemas.openxmlformats.org/officeDocument/2006/relationships/image" Target="../media/image-11-1.png"/><Relationship Id="rId9" Type="http://schemas.openxmlformats.org/officeDocument/2006/relationships/image" Target="../media/image-11-1.png"/><Relationship Id="rId10" Type="http://schemas.openxmlformats.org/officeDocument/2006/relationships/image" Target="../media/image-11-1.png"/><Relationship Id="rId11" Type="http://schemas.openxmlformats.org/officeDocument/2006/relationships/image" Target="../media/image-11-1.png"/><Relationship Id="rId12" Type="http://schemas.openxmlformats.org/officeDocument/2006/relationships/image" Target="../media/image-11-1.png"/><Relationship Id="rId13" Type="http://schemas.openxmlformats.org/officeDocument/2006/relationships/image" Target="../media/image-1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48472" y="-2103120"/>
            <a:ext cx="5669280" cy="5669280"/>
          </a:xfrm>
          <a:prstGeom prst="ellipse">
            <a:avLst/>
          </a:prstGeom>
          <a:solidFill>
            <a:srgbClr val="1E2761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480560"/>
            <a:ext cx="4023360" cy="4023360"/>
          </a:xfrm>
          <a:prstGeom prst="ellipse">
            <a:avLst/>
          </a:prstGeom>
          <a:solidFill>
            <a:srgbClr val="1E2761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777240" cy="7772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5" name="Image 0" descr="/home/claude/erc-bot/png/robo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001" y="878281"/>
            <a:ext cx="575158" cy="5751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783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ТОО «Астана-ЕРЦ»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77240" y="22402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AI-бот поддержки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822960" y="342900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Демонстрация MVP — готового к пилотному запуску цифрового</a:t>
            </a:r>
            <a:endParaRPr lang="en-US" sz="17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канала поддержки жителей, поставщиков и сотрудников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22960" y="5989320"/>
            <a:ext cx="10515600" cy="0"/>
          </a:xfrm>
          <a:prstGeom prst="line">
            <a:avLst/>
          </a:prstGeom>
          <a:noFill/>
          <a:ln w="12700">
            <a:solidFill>
              <a:srgbClr val="3A458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61081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E9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Версия MVP · 2026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336792" y="610819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E9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Презентация для руководства и сотрудников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Какая проблема решается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Сегодняшняя нагрузка на поддержку Астана-ЕРЦ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66360" cy="1965960"/>
          </a:xfrm>
          <a:prstGeom prst="roundRect">
            <a:avLst>
              <a:gd name="adj" fmla="val 5581"/>
            </a:avLst>
          </a:prstGeom>
          <a:solidFill>
            <a:srgbClr val="F7F8FC"/>
          </a:solidFill>
          <a:ln w="9525">
            <a:solidFill>
              <a:srgbClr val="E4E8F4"/>
            </a:solidFill>
            <a:prstDash val="solid"/>
          </a:ln>
          <a:effectLst>
            <a:outerShdw sx="100000" sy="100000" kx="0" ky="0" algn="bl" rotWithShape="0" blurRad="101600" dist="38100" dir="2700000">
              <a:srgbClr val="0B113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842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erc-bot/png/phon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8101" y="2057949"/>
            <a:ext cx="419527" cy="419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94767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Высокая нагрузка на операторов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45920" y="242316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и те же вопросы про оплаты, ЕПД и показания счётчиков повторяются десятками раз в день.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72200" y="1691640"/>
            <a:ext cx="5166360" cy="1965960"/>
          </a:xfrm>
          <a:prstGeom prst="roundRect">
            <a:avLst>
              <a:gd name="adj" fmla="val 5581"/>
            </a:avLst>
          </a:prstGeom>
          <a:solidFill>
            <a:srgbClr val="F7F8FC"/>
          </a:solidFill>
          <a:ln w="9525">
            <a:solidFill>
              <a:srgbClr val="E4E8F4"/>
            </a:solidFill>
            <a:prstDash val="solid"/>
          </a:ln>
          <a:effectLst>
            <a:outerShdw sx="100000" sy="100000" kx="0" ky="0" algn="bl" rotWithShape="0" blurRad="101600" dist="38100" dir="2700000">
              <a:srgbClr val="0B113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46520" y="19842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erc-bot/png/clo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0221" y="2057949"/>
            <a:ext cx="419527" cy="4195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194767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Долгое ожидание ответа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178040" y="242316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Жители ждут в очереди на звонок или ответ, даже когда вопрос простой и типовой.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3977640"/>
            <a:ext cx="5166360" cy="1965960"/>
          </a:xfrm>
          <a:prstGeom prst="roundRect">
            <a:avLst>
              <a:gd name="adj" fmla="val 5581"/>
            </a:avLst>
          </a:prstGeom>
          <a:solidFill>
            <a:srgbClr val="F7F8FC"/>
          </a:solidFill>
          <a:ln w="9525">
            <a:solidFill>
              <a:srgbClr val="E4E8F4"/>
            </a:solidFill>
            <a:prstDash val="solid"/>
          </a:ln>
          <a:effectLst>
            <a:outerShdw sx="100000" sy="100000" kx="0" ky="0" algn="bl" rotWithShape="0" blurRad="101600" dist="38100" dir="2700000">
              <a:srgbClr val="0B113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2702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erc-bot/png/questio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101" y="4343949"/>
            <a:ext cx="419527" cy="41952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23367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Потеря однотипных тем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645920" y="470916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системного учёта вопросов, на которые в базе знаний пока нет точного ответа.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72200" y="3977640"/>
            <a:ext cx="5166360" cy="1965960"/>
          </a:xfrm>
          <a:prstGeom prst="roundRect">
            <a:avLst>
              <a:gd name="adj" fmla="val 5581"/>
            </a:avLst>
          </a:prstGeom>
          <a:solidFill>
            <a:srgbClr val="F7F8FC"/>
          </a:solidFill>
          <a:ln w="9525">
            <a:solidFill>
              <a:srgbClr val="E4E8F4"/>
            </a:solidFill>
            <a:prstDash val="solid"/>
          </a:ln>
          <a:effectLst>
            <a:outerShdw sx="100000" sy="100000" kx="0" ky="0" algn="bl" rotWithShape="0" blurRad="101600" dist="38100" dir="2700000">
              <a:srgbClr val="0B113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46520" y="42702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erc-bot/png/databas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0221" y="4343949"/>
            <a:ext cx="419527" cy="41952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78040" y="423367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Разрозненная работа с заявками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178040" y="470916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Обращения, записи к руководству и заявки по счётчикам не структурированы и сложно контролируются.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Астана-ЕРЦ · AI-бот поддержки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7112" y="3566160"/>
            <a:ext cx="4754880" cy="475488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такое AI-бот поддержки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6126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Цифровой помощник, который понимает вопрос жителя, поставщика или сотрудника по смыслу и даёт короткий, понятный ответ — без ожидания оператора и без звонков.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6" name="Image 0" descr="/home/claude/erc-bot/png/search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" y="3076956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299923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Понимает смысл вопроса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280160" y="331012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не только точные ключевые слова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3858768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0" name="Image 1" descr="/home/claude/erc-bot/png/comment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" y="3918204"/>
            <a:ext cx="338328" cy="3383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80160" y="38404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Отвечает простым языком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280160" y="415137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коротко, по существу, без лишних деталей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0080" y="4700016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4" name="Image 2" descr="/home/claude/erc-bot/png/arrow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" y="4759452"/>
            <a:ext cx="338328" cy="33832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80160" y="468172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Подсказывает следующий шаг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1280160" y="499262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предлагает уточняющие быстрые вопросы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7360920" y="1234440"/>
            <a:ext cx="4160520" cy="5212080"/>
          </a:xfrm>
          <a:prstGeom prst="roundRect">
            <a:avLst>
              <a:gd name="adj" fmla="val 3956"/>
            </a:avLst>
          </a:prstGeom>
          <a:solidFill>
            <a:srgbClr val="FFFFFF"/>
          </a:solidFill>
          <a:ln w="9525">
            <a:solidFill>
              <a:srgbClr val="E4E8F4"/>
            </a:solidFill>
            <a:prstDash val="solid"/>
          </a:ln>
          <a:effectLst>
            <a:outerShdw sx="100000" sy="100000" kx="0" ky="0" algn="bl" rotWithShape="0" blurRad="177800" dist="38100" dir="2700000">
              <a:srgbClr val="0B1130">
                <a:alpha val="3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360920" y="1234440"/>
            <a:ext cx="4160520" cy="594360"/>
          </a:xfrm>
          <a:prstGeom prst="roundRect">
            <a:avLst>
              <a:gd name="adj" fmla="val 27692"/>
            </a:avLst>
          </a:prstGeom>
          <a:solidFill>
            <a:srgbClr val="1E2761"/>
          </a:solidFill>
          <a:ln/>
        </p:spPr>
      </p:sp>
      <p:sp>
        <p:nvSpPr>
          <p:cNvPr id="19" name="Shape 14"/>
          <p:cNvSpPr/>
          <p:nvPr/>
        </p:nvSpPr>
        <p:spPr>
          <a:xfrm>
            <a:off x="7360920" y="1600200"/>
            <a:ext cx="4160520" cy="228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Shape 15"/>
          <p:cNvSpPr/>
          <p:nvPr/>
        </p:nvSpPr>
        <p:spPr>
          <a:xfrm>
            <a:off x="7562088" y="1353312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1" name="Image 3" descr="/home/claude/erc-bot/png/robot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9637" y="1400861"/>
            <a:ext cx="270662" cy="27066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0" y="13533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AI-бот Астана-ЕРЦ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8183880" y="2148840"/>
            <a:ext cx="3063240" cy="566928"/>
          </a:xfrm>
          <a:prstGeom prst="roundRect">
            <a:avLst>
              <a:gd name="adj" fmla="val 19355"/>
            </a:avLst>
          </a:prstGeom>
          <a:solidFill>
            <a:srgbClr val="EEF2FB"/>
          </a:solidFill>
          <a:ln/>
        </p:spPr>
      </p:sp>
      <p:sp>
        <p:nvSpPr>
          <p:cNvPr id="24" name="Text 18"/>
          <p:cNvSpPr/>
          <p:nvPr/>
        </p:nvSpPr>
        <p:spPr>
          <a:xfrm>
            <a:off x="8321040" y="214884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оплатить ЕПД онлайн?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7543800" y="2926080"/>
            <a:ext cx="3383280" cy="96012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26" name="Text 20"/>
          <p:cNvSpPr/>
          <p:nvPr/>
        </p:nvSpPr>
        <p:spPr>
          <a:xfrm>
            <a:off x="7708392" y="292608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Оплатить ЕПД можно через мобильное приложение, сайт или терминал. Нужна ссылка на оплату?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7543800" y="4069080"/>
            <a:ext cx="1373429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7543800" y="4069080"/>
            <a:ext cx="137342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Ссылка на оплату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9054389" y="4069080"/>
            <a:ext cx="1439266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9054389" y="4069080"/>
            <a:ext cx="14392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Узнать начисление</a:t>
            </a:r>
            <a:endParaRPr lang="en-US" sz="950" dirty="0"/>
          </a:p>
        </p:txBody>
      </p:sp>
      <p:sp>
        <p:nvSpPr>
          <p:cNvPr id="31" name="Shape 25"/>
          <p:cNvSpPr/>
          <p:nvPr/>
        </p:nvSpPr>
        <p:spPr>
          <a:xfrm>
            <a:off x="10630814" y="4069080"/>
            <a:ext cx="1505102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10630814" y="4069080"/>
            <a:ext cx="150510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Показания счётчика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8549640" y="4663440"/>
            <a:ext cx="2697480" cy="502920"/>
          </a:xfrm>
          <a:prstGeom prst="roundRect">
            <a:avLst>
              <a:gd name="adj" fmla="val 21818"/>
            </a:avLst>
          </a:prstGeom>
          <a:solidFill>
            <a:srgbClr val="EEF2FB"/>
          </a:solidFill>
          <a:ln/>
        </p:spPr>
      </p:sp>
      <p:sp>
        <p:nvSpPr>
          <p:cNvPr id="34" name="Text 28"/>
          <p:cNvSpPr/>
          <p:nvPr/>
        </p:nvSpPr>
        <p:spPr>
          <a:xfrm>
            <a:off x="8686800" y="46634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Ссылка на оплату</a:t>
            </a:r>
            <a:endParaRPr lang="en-US" sz="1150" dirty="0"/>
          </a:p>
        </p:txBody>
      </p:sp>
      <p:sp>
        <p:nvSpPr>
          <p:cNvPr id="35" name="Shape 29"/>
          <p:cNvSpPr/>
          <p:nvPr/>
        </p:nvSpPr>
        <p:spPr>
          <a:xfrm>
            <a:off x="7543800" y="5943600"/>
            <a:ext cx="3794760" cy="365760"/>
          </a:xfrm>
          <a:prstGeom prst="roundRect">
            <a:avLst>
              <a:gd name="adj" fmla="val 50000"/>
            </a:avLst>
          </a:prstGeom>
          <a:solidFill>
            <a:srgbClr val="F7F8FC"/>
          </a:solidFill>
          <a:ln w="9525">
            <a:solidFill>
              <a:srgbClr val="DCE1F0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7708392" y="5943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Напишите вопрос...</a:t>
            </a:r>
            <a:endParaRPr lang="en-US" sz="1050" dirty="0"/>
          </a:p>
        </p:txBody>
      </p:sp>
      <p:sp>
        <p:nvSpPr>
          <p:cNvPr id="37" name="Text 3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9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Астана-ЕРЦ · AI-бот поддержки</a:t>
            </a:r>
            <a:endParaRPr lang="en-US" sz="900" dirty="0"/>
          </a:p>
        </p:txBody>
      </p:sp>
      <p:sp>
        <p:nvSpPr>
          <p:cNvPr id="38" name="Text 32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Основные возможности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набор функций, реализованных в текущем MVP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3456432" cy="1481328"/>
          </a:xfrm>
          <a:prstGeom prst="roundRect">
            <a:avLst>
              <a:gd name="adj" fmla="val 7407"/>
            </a:avLst>
          </a:prstGeom>
          <a:solidFill>
            <a:srgbClr val="F7F8FC"/>
          </a:solidFill>
          <a:ln w="9525">
            <a:solidFill>
              <a:srgbClr val="E4E8F4"/>
            </a:solidFill>
            <a:prstDash val="solid"/>
          </a:ln>
          <a:effectLst>
            <a:outerShdw sx="100000" sy="100000" kx="0" ky="0" algn="bl" rotWithShape="0" blurRad="88900" dist="38100" dir="2700000">
              <a:srgbClr val="0B113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8288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erc-bot/png/commen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1888236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2377440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Ответы по базе знаний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41248" y="2670048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Вопросы жителей закрываются на основе единой базы знаний.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61104" y="1627632"/>
            <a:ext cx="3456432" cy="1481328"/>
          </a:xfrm>
          <a:prstGeom prst="roundRect">
            <a:avLst>
              <a:gd name="adj" fmla="val 7407"/>
            </a:avLst>
          </a:prstGeom>
          <a:solidFill>
            <a:srgbClr val="F7F8FC"/>
          </a:solidFill>
          <a:ln w="9525">
            <a:solidFill>
              <a:srgbClr val="E4E8F4"/>
            </a:solidFill>
            <a:prstDash val="solid"/>
          </a:ln>
          <a:effectLst>
            <a:outerShdw sx="100000" sy="100000" kx="0" ky="0" algn="bl" rotWithShape="0" blurRad="88900" dist="38100" dir="2700000">
              <a:srgbClr val="0B113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62272" y="18288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erc-bot/png/searc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1708" y="1888236"/>
            <a:ext cx="338328" cy="3383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62272" y="2377440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по смыслу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462272" y="2670048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Понимает суть вопроса, а не только точные формулировки.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7882128" y="1627632"/>
            <a:ext cx="3456432" cy="1481328"/>
          </a:xfrm>
          <a:prstGeom prst="roundRect">
            <a:avLst>
              <a:gd name="adj" fmla="val 7407"/>
            </a:avLst>
          </a:prstGeom>
          <a:solidFill>
            <a:srgbClr val="F7F8FC"/>
          </a:solidFill>
          <a:ln w="9525">
            <a:solidFill>
              <a:srgbClr val="E4E8F4"/>
            </a:solidFill>
            <a:prstDash val="solid"/>
          </a:ln>
          <a:effectLst>
            <a:outerShdw sx="100000" sy="100000" kx="0" ky="0" algn="bl" rotWithShape="0" blurRad="88900" dist="38100" dir="2700000">
              <a:srgbClr val="0B113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83296" y="18288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erc-bot/png/bol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2732" y="1888236"/>
            <a:ext cx="338328" cy="3383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83296" y="2377440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Короткие ответы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083296" y="2670048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Понятный, лаконичный текст без лишней технической сложности.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3291840"/>
            <a:ext cx="3456432" cy="1481328"/>
          </a:xfrm>
          <a:prstGeom prst="roundRect">
            <a:avLst>
              <a:gd name="adj" fmla="val 7407"/>
            </a:avLst>
          </a:prstGeom>
          <a:solidFill>
            <a:srgbClr val="F7F8FC"/>
          </a:solidFill>
          <a:ln w="9525">
            <a:solidFill>
              <a:srgbClr val="E4E8F4"/>
            </a:solidFill>
            <a:prstDash val="solid"/>
          </a:ln>
          <a:effectLst>
            <a:outerShdw sx="100000" sy="100000" kx="0" ky="0" algn="bl" rotWithShape="0" blurRad="88900" dist="38100" dir="2700000">
              <a:srgbClr val="0B113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41248" y="34930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erc-bot/png/lis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" y="3552444"/>
            <a:ext cx="338328" cy="33832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41248" y="4041648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Быстрые вопросы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841248" y="4334256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ответа предлагаются связанные уточняющие темы.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261104" y="3291840"/>
            <a:ext cx="3456432" cy="1481328"/>
          </a:xfrm>
          <a:prstGeom prst="roundRect">
            <a:avLst>
              <a:gd name="adj" fmla="val 7407"/>
            </a:avLst>
          </a:prstGeom>
          <a:solidFill>
            <a:srgbClr val="F7F8FC"/>
          </a:solidFill>
          <a:ln w="9525">
            <a:solidFill>
              <a:srgbClr val="E4E8F4"/>
            </a:solidFill>
            <a:prstDash val="solid"/>
          </a:ln>
          <a:effectLst>
            <a:outerShdw sx="100000" sy="100000" kx="0" ky="0" algn="bl" rotWithShape="0" blurRad="88900" dist="38100" dir="2700000">
              <a:srgbClr val="0B113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462272" y="34930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/home/claude/erc-bot/png/edi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1708" y="3552444"/>
            <a:ext cx="338328" cy="33832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462272" y="4041648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Корректировка показаний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462272" y="4334256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Отдельная форма заявки на корректировку показаний счётчиков.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7882128" y="3291840"/>
            <a:ext cx="3456432" cy="1481328"/>
          </a:xfrm>
          <a:prstGeom prst="roundRect">
            <a:avLst>
              <a:gd name="adj" fmla="val 7407"/>
            </a:avLst>
          </a:prstGeom>
          <a:solidFill>
            <a:srgbClr val="F7F8FC"/>
          </a:solidFill>
          <a:ln w="9525">
            <a:solidFill>
              <a:srgbClr val="E4E8F4"/>
            </a:solidFill>
            <a:prstDash val="solid"/>
          </a:ln>
          <a:effectLst>
            <a:outerShdw sx="100000" sy="100000" kx="0" ky="0" algn="bl" rotWithShape="0" blurRad="88900" dist="38100" dir="2700000">
              <a:srgbClr val="0B113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083296" y="34930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/home/claude/erc-bot/png/clipboard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2732" y="3552444"/>
            <a:ext cx="338328" cy="33832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083296" y="4041648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 обращения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083296" y="4334256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Обычное обращение с возможностью прикрепить файлы.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640080" y="4956048"/>
            <a:ext cx="3456432" cy="1481328"/>
          </a:xfrm>
          <a:prstGeom prst="roundRect">
            <a:avLst>
              <a:gd name="adj" fmla="val 7407"/>
            </a:avLst>
          </a:prstGeom>
          <a:solidFill>
            <a:srgbClr val="F7F8FC"/>
          </a:solidFill>
          <a:ln w="9525">
            <a:solidFill>
              <a:srgbClr val="E4E8F4"/>
            </a:solidFill>
            <a:prstDash val="solid"/>
          </a:ln>
          <a:effectLst>
            <a:outerShdw sx="100000" sy="100000" kx="0" ky="0" algn="bl" rotWithShape="0" blurRad="88900" dist="38100" dir="2700000">
              <a:srgbClr val="0B1130">
                <a:alpha val="8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841248" y="515721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6" name="Image 6" descr="/home/claude/erc-bot/png/calendar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0684" y="5216652"/>
            <a:ext cx="338328" cy="33832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841248" y="5705856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 к руководству</a:t>
            </a:r>
            <a:endParaRPr lang="en-US" sz="1300" dirty="0"/>
          </a:p>
        </p:txBody>
      </p:sp>
      <p:sp>
        <p:nvSpPr>
          <p:cNvPr id="38" name="Text 29"/>
          <p:cNvSpPr/>
          <p:nvPr/>
        </p:nvSpPr>
        <p:spPr>
          <a:xfrm>
            <a:off x="841248" y="5998464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Заявка на запись через бота, без звонков и очередей.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4261104" y="4956048"/>
            <a:ext cx="3456432" cy="1481328"/>
          </a:xfrm>
          <a:prstGeom prst="roundRect">
            <a:avLst>
              <a:gd name="adj" fmla="val 7407"/>
            </a:avLst>
          </a:prstGeom>
          <a:solidFill>
            <a:srgbClr val="F7F8FC"/>
          </a:solidFill>
          <a:ln w="9525">
            <a:solidFill>
              <a:srgbClr val="E4E8F4"/>
            </a:solidFill>
            <a:prstDash val="solid"/>
          </a:ln>
          <a:effectLst>
            <a:outerShdw sx="100000" sy="100000" kx="0" ky="0" algn="bl" rotWithShape="0" blurRad="88900" dist="38100" dir="2700000">
              <a:srgbClr val="0B1130">
                <a:alpha val="8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4462272" y="515721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1" name="Image 7" descr="/home/claude/erc-bot/png/usercog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21708" y="5216652"/>
            <a:ext cx="338328" cy="338328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4462272" y="5705856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Админка заявок</a:t>
            </a:r>
            <a:endParaRPr lang="en-US" sz="1300" dirty="0"/>
          </a:p>
        </p:txBody>
      </p:sp>
      <p:sp>
        <p:nvSpPr>
          <p:cNvPr id="43" name="Text 33"/>
          <p:cNvSpPr/>
          <p:nvPr/>
        </p:nvSpPr>
        <p:spPr>
          <a:xfrm>
            <a:off x="4462272" y="5998464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заявки видны и обрабатываются в одном месте.</a:t>
            </a:r>
            <a:endParaRPr lang="en-US" sz="1050" dirty="0"/>
          </a:p>
        </p:txBody>
      </p:sp>
      <p:sp>
        <p:nvSpPr>
          <p:cNvPr id="44" name="Shape 34"/>
          <p:cNvSpPr/>
          <p:nvPr/>
        </p:nvSpPr>
        <p:spPr>
          <a:xfrm>
            <a:off x="7882128" y="4956048"/>
            <a:ext cx="3456432" cy="1481328"/>
          </a:xfrm>
          <a:prstGeom prst="roundRect">
            <a:avLst>
              <a:gd name="adj" fmla="val 7407"/>
            </a:avLst>
          </a:prstGeom>
          <a:solidFill>
            <a:srgbClr val="F7F8FC"/>
          </a:solidFill>
          <a:ln w="9525">
            <a:solidFill>
              <a:srgbClr val="E4E8F4"/>
            </a:solidFill>
            <a:prstDash val="solid"/>
          </a:ln>
          <a:effectLst>
            <a:outerShdw sx="100000" sy="100000" kx="0" ky="0" algn="bl" rotWithShape="0" blurRad="88900" dist="38100" dir="2700000">
              <a:srgbClr val="0B1130">
                <a:alpha val="8000"/>
              </a:srgbClr>
            </a:outerShdw>
          </a:effectLst>
        </p:spPr>
      </p:sp>
      <p:sp>
        <p:nvSpPr>
          <p:cNvPr id="45" name="Shape 35"/>
          <p:cNvSpPr/>
          <p:nvPr/>
        </p:nvSpPr>
        <p:spPr>
          <a:xfrm>
            <a:off x="8083296" y="515721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6" name="Image 8" descr="/home/claude/erc-bot/png/database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42732" y="5216652"/>
            <a:ext cx="338328" cy="338328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8083296" y="5705856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поставщиков</a:t>
            </a:r>
            <a:endParaRPr lang="en-US" sz="1300" dirty="0"/>
          </a:p>
        </p:txBody>
      </p:sp>
      <p:sp>
        <p:nvSpPr>
          <p:cNvPr id="48" name="Text 37"/>
          <p:cNvSpPr/>
          <p:nvPr/>
        </p:nvSpPr>
        <p:spPr>
          <a:xfrm>
            <a:off x="8083296" y="5998464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по названию и коду, сортировка по менеджерам.</a:t>
            </a:r>
            <a:endParaRPr lang="en-US" sz="1050" dirty="0"/>
          </a:p>
        </p:txBody>
      </p:sp>
      <p:sp>
        <p:nvSpPr>
          <p:cNvPr id="49" name="Text 3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Астана-ЕРЦ · AI-бот поддержки</a:t>
            </a:r>
            <a:endParaRPr lang="en-US" sz="900" dirty="0"/>
          </a:p>
        </p:txBody>
      </p:sp>
      <p:sp>
        <p:nvSpPr>
          <p:cNvPr id="50" name="Text 39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Польза для жителей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меняется для жителей, поставщиков и заявителей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314432" y="502920"/>
            <a:ext cx="1051560" cy="105156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5" name="Image 0" descr="/home/claude/erc-bot/png/us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1135" y="639623"/>
            <a:ext cx="778154" cy="77815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819656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1" descr="/home/claude/erc-bot/png/bol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648" y="1886224"/>
            <a:ext cx="378927" cy="37892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1783080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Быстрый ответ без ожидания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371600" y="2112264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приходит мгновенно — не нужно ждать оператора или звонить в колл-центр.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40080" y="2633472"/>
            <a:ext cx="10881360" cy="0"/>
          </a:xfrm>
          <a:prstGeom prst="line">
            <a:avLst/>
          </a:prstGeom>
          <a:noFill/>
          <a:ln w="12700">
            <a:solidFill>
              <a:srgbClr val="EDEFF7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40080" y="2779776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2" descr="/home/claude/erc-bot/png/arrow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648" y="2846344"/>
            <a:ext cx="378927" cy="37892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2743200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Понятные действия после ответа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371600" y="3072384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Бот сразу предлагает следующий логичный шаг: оплатить, уточнить, подать заявку.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40080" y="3593592"/>
            <a:ext cx="10881360" cy="0"/>
          </a:xfrm>
          <a:prstGeom prst="line">
            <a:avLst/>
          </a:prstGeom>
          <a:noFill/>
          <a:ln w="12700">
            <a:solidFill>
              <a:srgbClr val="EDEFF7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40080" y="3739896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3" descr="/home/claude/erc-bot/png/clipboar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648" y="3806464"/>
            <a:ext cx="378927" cy="37892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3703320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Заявка прямо в чате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371600" y="4032504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Корректировка показаний, обращение или запись к руководству — без перехода на другие каналы.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40080" y="4553712"/>
            <a:ext cx="10881360" cy="0"/>
          </a:xfrm>
          <a:prstGeom prst="line">
            <a:avLst/>
          </a:prstGeom>
          <a:noFill/>
          <a:ln w="12700">
            <a:solidFill>
              <a:srgbClr val="EDEFF7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40080" y="4700016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4" descr="/home/claude/erc-bot/png/phoneslash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648" y="4766584"/>
            <a:ext cx="378927" cy="378927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371600" y="4663440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Меньше необходимости звонить оператору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1371600" y="4992624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Большинство типовых вопросов закрывается без участия живого сотрудника.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Астана-ЕРЦ · AI-бот поддержки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Польза для сотрудников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бот облегчает работу команды поддержки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314432" y="502920"/>
            <a:ext cx="1051560" cy="105156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5" name="Image 0" descr="/home/claude/erc-bot/png/userti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1135" y="639623"/>
            <a:ext cx="778154" cy="77815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819656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1" descr="/home/claude/erc-bot/png/char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648" y="1886224"/>
            <a:ext cx="378927" cy="37892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1783080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Снижение нагрузки на операторов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371600" y="2112264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Типовые вопросы обрабатываются автоматически, операторы заняты сложными случаями.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40080" y="2441448"/>
            <a:ext cx="10881360" cy="0"/>
          </a:xfrm>
          <a:prstGeom prst="line">
            <a:avLst/>
          </a:prstGeom>
          <a:noFill/>
          <a:ln w="12700">
            <a:solidFill>
              <a:srgbClr val="EDEFF7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40080" y="258775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2" descr="/home/claude/erc-bot/png/cog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648" y="2654320"/>
            <a:ext cx="378927" cy="37892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2551176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Автоматизация однотипных вопросов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371600" y="2880360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Повторяющиеся обращения по оплатам, ЕПД и счётчикам не требуют ручной работы.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40080" y="3209544"/>
            <a:ext cx="10881360" cy="0"/>
          </a:xfrm>
          <a:prstGeom prst="line">
            <a:avLst/>
          </a:prstGeom>
          <a:noFill/>
          <a:ln w="12700">
            <a:solidFill>
              <a:srgbClr val="EDEFF7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40080" y="335584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3" descr="/home/claude/erc-bot/png/databas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648" y="3422416"/>
            <a:ext cx="378927" cy="37892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331927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Заявки хранятся структурно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371600" y="3648456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обращения попадают в единую систему с категориями и историей.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40080" y="3977640"/>
            <a:ext cx="10881360" cy="0"/>
          </a:xfrm>
          <a:prstGeom prst="line">
            <a:avLst/>
          </a:prstGeom>
          <a:noFill/>
          <a:ln w="12700">
            <a:solidFill>
              <a:srgbClr val="EDEFF7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40080" y="4123944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4" descr="/home/claude/erc-bot/png/ey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648" y="4190512"/>
            <a:ext cx="378927" cy="378927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371600" y="4087368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Видно, что добавить в базу знаний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1371600" y="4416552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Фиксируются вопросы без точного ответа — понятно, какие темы нужно дополнить.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640080" y="4745736"/>
            <a:ext cx="10881360" cy="0"/>
          </a:xfrm>
          <a:prstGeom prst="line">
            <a:avLst/>
          </a:prstGeom>
          <a:noFill/>
          <a:ln w="12700">
            <a:solidFill>
              <a:srgbClr val="EDEFF7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640080" y="489204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5" descr="/home/claude/erc-bot/png/handshak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648" y="4958608"/>
            <a:ext cx="378927" cy="378927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371600" y="4855464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Проще работать с поставщиками</a:t>
            </a:r>
            <a:endParaRPr lang="en-US" sz="1600" dirty="0"/>
          </a:p>
        </p:txBody>
      </p:sp>
      <p:sp>
        <p:nvSpPr>
          <p:cNvPr id="29" name="Text 21"/>
          <p:cNvSpPr/>
          <p:nvPr/>
        </p:nvSpPr>
        <p:spPr>
          <a:xfrm>
            <a:off x="1371600" y="5184648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Единая база поставщиков и менеджеров вместо разрозненных таблиц.</a:t>
            </a:r>
            <a:endParaRPr lang="en-US" sz="1250" dirty="0"/>
          </a:p>
        </p:txBody>
      </p:sp>
      <p:sp>
        <p:nvSpPr>
          <p:cNvPr id="30" name="Text 2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Астана-ЕРЦ · AI-бот поддержки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Польза для руководства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Управленческая ценность проекта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314432" y="502920"/>
            <a:ext cx="1051560" cy="105156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5" name="Image 0" descr="/home/claude/erc-bot/png/briefc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1135" y="639623"/>
            <a:ext cx="778154" cy="77815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819656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1" descr="/home/claude/erc-bot/png/mobil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648" y="1886224"/>
            <a:ext cx="378927" cy="37892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1783080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Цифровой канал поддержки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371600" y="2112264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Современный инструмент взаимодействия с жителями и поставщиками 24/7.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40080" y="2441448"/>
            <a:ext cx="10881360" cy="0"/>
          </a:xfrm>
          <a:prstGeom prst="line">
            <a:avLst/>
          </a:prstGeom>
          <a:noFill/>
          <a:ln w="12700">
            <a:solidFill>
              <a:srgbClr val="EDEFF7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40080" y="258775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2" descr="/home/claude/erc-bot/png/shiel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648" y="2654320"/>
            <a:ext cx="378927" cy="37892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2551176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обращений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371600" y="2880360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заявки видны в админке — ничего не теряется и не остаётся без ответа.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40080" y="3209544"/>
            <a:ext cx="10881360" cy="0"/>
          </a:xfrm>
          <a:prstGeom prst="line">
            <a:avLst/>
          </a:prstGeom>
          <a:noFill/>
          <a:ln w="12700">
            <a:solidFill>
              <a:srgbClr val="EDEFF7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40080" y="335584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3" descr="/home/claude/erc-bot/png/chartba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648" y="3422416"/>
            <a:ext cx="378927" cy="37892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331927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Прозрачность проблемных тем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371600" y="3648456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Видно, какие вопросы возникают чаще всего и где нужно усилить процессы.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40080" y="3977640"/>
            <a:ext cx="10881360" cy="0"/>
          </a:xfrm>
          <a:prstGeom prst="line">
            <a:avLst/>
          </a:prstGeom>
          <a:noFill/>
          <a:ln w="12700">
            <a:solidFill>
              <a:srgbClr val="EDEFF7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40080" y="4123944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4" descr="/home/claude/erc-bot/png/rocke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648" y="4190512"/>
            <a:ext cx="378927" cy="378927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371600" y="4087368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Основа для автоматизации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1371600" y="4416552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Платформа готова к расширению на новые сценарии и процессы.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640080" y="4745736"/>
            <a:ext cx="10881360" cy="0"/>
          </a:xfrm>
          <a:prstGeom prst="line">
            <a:avLst/>
          </a:prstGeom>
          <a:noFill/>
          <a:ln w="12700">
            <a:solidFill>
              <a:srgbClr val="EDEFF7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640080" y="489204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5" descr="/home/claude/erc-bot/png/glob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648" y="4958608"/>
            <a:ext cx="378927" cy="378927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371600" y="4855464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Возможность масштабирования</a:t>
            </a:r>
            <a:endParaRPr lang="en-US" sz="1600" dirty="0"/>
          </a:p>
        </p:txBody>
      </p:sp>
      <p:sp>
        <p:nvSpPr>
          <p:cNvPr id="29" name="Text 21"/>
          <p:cNvSpPr/>
          <p:nvPr/>
        </p:nvSpPr>
        <p:spPr>
          <a:xfrm>
            <a:off x="1371600" y="5184648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Подключение к сайту, WhatsApp, Telegram и внутренним процессам компании.</a:t>
            </a:r>
            <a:endParaRPr lang="en-US" sz="1250" dirty="0"/>
          </a:p>
        </p:txBody>
      </p:sp>
      <p:sp>
        <p:nvSpPr>
          <p:cNvPr id="30" name="Text 2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Астана-ЕРЦ · AI-бот поддержки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2377440"/>
            <a:ext cx="5029200" cy="50292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Демонстрационный сценарий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789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Путь жителя от вопроса до решения — пошагово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3429000" cy="1874520"/>
          </a:xfrm>
          <a:prstGeom prst="roundRect">
            <a:avLst>
              <a:gd name="adj" fmla="val 5854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841248" y="1874520"/>
            <a:ext cx="420624" cy="42062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410712" y="1874520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9" name="Image 0" descr="/home/claude/erc-bot/png/comment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65393" y="1929201"/>
            <a:ext cx="311262" cy="31126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41248" y="2441448"/>
            <a:ext cx="3026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41248" y="2752344"/>
            <a:ext cx="3026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3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Житель пишет вопрос о показаниях счётчика своими словами</a:t>
            </a:r>
            <a:endParaRPr lang="en-US" sz="1100" dirty="0"/>
          </a:p>
        </p:txBody>
      </p:sp>
      <p:pic>
        <p:nvPicPr>
          <p:cNvPr id="12" name="Image 1" descr="/home/claude/erc-bot/png/arrow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7368" y="2537460"/>
            <a:ext cx="164592" cy="16459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270248" y="1691640"/>
            <a:ext cx="3429000" cy="1874520"/>
          </a:xfrm>
          <a:prstGeom prst="roundRect">
            <a:avLst>
              <a:gd name="adj" fmla="val 5854"/>
            </a:avLst>
          </a:prstGeom>
          <a:solidFill>
            <a:srgbClr val="1E2761"/>
          </a:solidFill>
          <a:ln/>
        </p:spPr>
      </p:sp>
      <p:sp>
        <p:nvSpPr>
          <p:cNvPr id="14" name="Shape 10"/>
          <p:cNvSpPr/>
          <p:nvPr/>
        </p:nvSpPr>
        <p:spPr>
          <a:xfrm>
            <a:off x="4471416" y="1874520"/>
            <a:ext cx="420624" cy="42062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5" name="Text 11"/>
          <p:cNvSpPr/>
          <p:nvPr/>
        </p:nvSpPr>
        <p:spPr>
          <a:xfrm>
            <a:off x="4471416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7040880" y="1874520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7" name="Image 2" descr="/home/claude/erc-bot/png/search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5561" y="1929201"/>
            <a:ext cx="311262" cy="31126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471416" y="2441448"/>
            <a:ext cx="3026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Понимание смысла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4471416" y="2752344"/>
            <a:ext cx="3026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3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Бот распознаёт суть вопроса по базе знаний</a:t>
            </a:r>
            <a:endParaRPr lang="en-US" sz="1100" dirty="0"/>
          </a:p>
        </p:txBody>
      </p:sp>
      <p:pic>
        <p:nvPicPr>
          <p:cNvPr id="20" name="Image 3" descr="/home/claude/erc-bot/png/arrow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7536" y="2537460"/>
            <a:ext cx="164592" cy="164592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7900416" y="1691640"/>
            <a:ext cx="3429000" cy="1874520"/>
          </a:xfrm>
          <a:prstGeom prst="roundRect">
            <a:avLst>
              <a:gd name="adj" fmla="val 5854"/>
            </a:avLst>
          </a:prstGeom>
          <a:solidFill>
            <a:srgbClr val="1E2761"/>
          </a:solidFill>
          <a:ln/>
        </p:spPr>
      </p:sp>
      <p:sp>
        <p:nvSpPr>
          <p:cNvPr id="22" name="Shape 16"/>
          <p:cNvSpPr/>
          <p:nvPr/>
        </p:nvSpPr>
        <p:spPr>
          <a:xfrm>
            <a:off x="8101584" y="1874520"/>
            <a:ext cx="420624" cy="42062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3" name="Text 17"/>
          <p:cNvSpPr/>
          <p:nvPr/>
        </p:nvSpPr>
        <p:spPr>
          <a:xfrm>
            <a:off x="8101584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>
            <a:off x="10671048" y="1874520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5" name="Image 4" descr="/home/claude/erc-bot/png/bolt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25729" y="1929201"/>
            <a:ext cx="311262" cy="31126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101584" y="2441448"/>
            <a:ext cx="3026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Короткий ответ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8101584" y="2752344"/>
            <a:ext cx="3026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3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Жителю приходит понятный ответ без лишних деталей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40080" y="3822192"/>
            <a:ext cx="3429000" cy="1874520"/>
          </a:xfrm>
          <a:prstGeom prst="roundRect">
            <a:avLst>
              <a:gd name="adj" fmla="val 5854"/>
            </a:avLst>
          </a:prstGeom>
          <a:solidFill>
            <a:srgbClr val="1E2761"/>
          </a:solidFill>
          <a:ln/>
        </p:spPr>
      </p:sp>
      <p:sp>
        <p:nvSpPr>
          <p:cNvPr id="29" name="Shape 22"/>
          <p:cNvSpPr/>
          <p:nvPr/>
        </p:nvSpPr>
        <p:spPr>
          <a:xfrm>
            <a:off x="841248" y="4005072"/>
            <a:ext cx="420624" cy="42062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0" name="Text 23"/>
          <p:cNvSpPr/>
          <p:nvPr/>
        </p:nvSpPr>
        <p:spPr>
          <a:xfrm>
            <a:off x="841248" y="4005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Shape 24"/>
          <p:cNvSpPr/>
          <p:nvPr/>
        </p:nvSpPr>
        <p:spPr>
          <a:xfrm>
            <a:off x="3410712" y="4005072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2" name="Image 5" descr="/home/claude/erc-bot/png/list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5393" y="4059753"/>
            <a:ext cx="311262" cy="31126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41248" y="4572000"/>
            <a:ext cx="3026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Быстрые вопросы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841248" y="4882896"/>
            <a:ext cx="3026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3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Предлагаются связанные темы: «подать корректировку», «узнать начисление»</a:t>
            </a:r>
            <a:endParaRPr lang="en-US" sz="1100" dirty="0"/>
          </a:p>
        </p:txBody>
      </p:sp>
      <p:pic>
        <p:nvPicPr>
          <p:cNvPr id="35" name="Image 6" descr="/home/claude/erc-bot/png/arrow_go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87368" y="4668012"/>
            <a:ext cx="164592" cy="164592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4270248" y="3822192"/>
            <a:ext cx="3429000" cy="1874520"/>
          </a:xfrm>
          <a:prstGeom prst="roundRect">
            <a:avLst>
              <a:gd name="adj" fmla="val 5854"/>
            </a:avLst>
          </a:prstGeom>
          <a:solidFill>
            <a:srgbClr val="1E2761"/>
          </a:solidFill>
          <a:ln/>
        </p:spPr>
      </p:sp>
      <p:sp>
        <p:nvSpPr>
          <p:cNvPr id="37" name="Shape 28"/>
          <p:cNvSpPr/>
          <p:nvPr/>
        </p:nvSpPr>
        <p:spPr>
          <a:xfrm>
            <a:off x="4471416" y="4005072"/>
            <a:ext cx="420624" cy="42062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8" name="Text 29"/>
          <p:cNvSpPr/>
          <p:nvPr/>
        </p:nvSpPr>
        <p:spPr>
          <a:xfrm>
            <a:off x="4471416" y="4005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9" name="Shape 30"/>
          <p:cNvSpPr/>
          <p:nvPr/>
        </p:nvSpPr>
        <p:spPr>
          <a:xfrm>
            <a:off x="7040880" y="4005072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40" name="Image 7" descr="/home/claude/erc-bot/png/edit_nav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95561" y="4059753"/>
            <a:ext cx="311262" cy="311262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4471416" y="4572000"/>
            <a:ext cx="3026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Заявка в чате</a:t>
            </a:r>
            <a:endParaRPr lang="en-US" sz="1450" dirty="0"/>
          </a:p>
        </p:txBody>
      </p:sp>
      <p:sp>
        <p:nvSpPr>
          <p:cNvPr id="42" name="Text 32"/>
          <p:cNvSpPr/>
          <p:nvPr/>
        </p:nvSpPr>
        <p:spPr>
          <a:xfrm>
            <a:off x="4471416" y="4882896"/>
            <a:ext cx="3026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3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Житель оформляет заявку на корректировку показаний прямо в диалоге</a:t>
            </a:r>
            <a:endParaRPr lang="en-US" sz="1100" dirty="0"/>
          </a:p>
        </p:txBody>
      </p:sp>
      <p:pic>
        <p:nvPicPr>
          <p:cNvPr id="43" name="Image 8" descr="/home/claude/erc-bot/png/arrow_gol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17536" y="4668012"/>
            <a:ext cx="164592" cy="164592"/>
          </a:xfrm>
          <a:prstGeom prst="rect">
            <a:avLst/>
          </a:prstGeom>
        </p:spPr>
      </p:pic>
      <p:sp>
        <p:nvSpPr>
          <p:cNvPr id="44" name="Shape 33"/>
          <p:cNvSpPr/>
          <p:nvPr/>
        </p:nvSpPr>
        <p:spPr>
          <a:xfrm>
            <a:off x="7900416" y="3822192"/>
            <a:ext cx="3429000" cy="1874520"/>
          </a:xfrm>
          <a:prstGeom prst="roundRect">
            <a:avLst>
              <a:gd name="adj" fmla="val 5854"/>
            </a:avLst>
          </a:prstGeom>
          <a:solidFill>
            <a:srgbClr val="1E2761"/>
          </a:solidFill>
          <a:ln/>
        </p:spPr>
      </p:sp>
      <p:sp>
        <p:nvSpPr>
          <p:cNvPr id="45" name="Shape 34"/>
          <p:cNvSpPr/>
          <p:nvPr/>
        </p:nvSpPr>
        <p:spPr>
          <a:xfrm>
            <a:off x="8101584" y="4005072"/>
            <a:ext cx="420624" cy="42062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46" name="Text 35"/>
          <p:cNvSpPr/>
          <p:nvPr/>
        </p:nvSpPr>
        <p:spPr>
          <a:xfrm>
            <a:off x="8101584" y="4005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7" name="Shape 36"/>
          <p:cNvSpPr/>
          <p:nvPr/>
        </p:nvSpPr>
        <p:spPr>
          <a:xfrm>
            <a:off x="10671048" y="4005072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48" name="Image 9" descr="/home/claude/erc-bot/png/check_nav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25729" y="4059753"/>
            <a:ext cx="311262" cy="311262"/>
          </a:xfrm>
          <a:prstGeom prst="rect">
            <a:avLst/>
          </a:prstGeom>
        </p:spPr>
      </p:pic>
      <p:sp>
        <p:nvSpPr>
          <p:cNvPr id="49" name="Text 37"/>
          <p:cNvSpPr/>
          <p:nvPr/>
        </p:nvSpPr>
        <p:spPr>
          <a:xfrm>
            <a:off x="8101584" y="4572000"/>
            <a:ext cx="3026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Заявка принята</a:t>
            </a:r>
            <a:endParaRPr lang="en-US" sz="1450" dirty="0"/>
          </a:p>
        </p:txBody>
      </p:sp>
      <p:sp>
        <p:nvSpPr>
          <p:cNvPr id="50" name="Text 38"/>
          <p:cNvSpPr/>
          <p:nvPr/>
        </p:nvSpPr>
        <p:spPr>
          <a:xfrm>
            <a:off x="8101584" y="4882896"/>
            <a:ext cx="3026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3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Обращение сохраняется в системе и попадает в админку</a:t>
            </a:r>
            <a:endParaRPr lang="en-US" sz="1100" dirty="0"/>
          </a:p>
        </p:txBody>
      </p:sp>
      <p:sp>
        <p:nvSpPr>
          <p:cNvPr id="51" name="Text 3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9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Астана-ЕРЦ · AI-бот поддержки</a:t>
            </a:r>
            <a:endParaRPr lang="en-US" sz="900" dirty="0"/>
          </a:p>
        </p:txBody>
      </p:sp>
      <p:sp>
        <p:nvSpPr>
          <p:cNvPr id="52" name="Text 40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Админка и контроль заявок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обращения — в одном структурированном месте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erc-bot/png/clipboar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648" y="1849648"/>
            <a:ext cx="378927" cy="3789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755648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категории заявок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325880" y="2075688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Корректировка показаний, обычное обращение, запись к руководству.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286207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/home/claude/erc-bot/png/history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648" y="2928640"/>
            <a:ext cx="378927" cy="37892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283464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диалогов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325880" y="315468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контекст переписки сохраняется по каждому обращению.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941064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/home/claude/erc-bot/png/questio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648" y="4007632"/>
            <a:ext cx="378927" cy="37892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391363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Вопросы без ответа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325880" y="4233672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Фиксируются темы, на которые в базе знаний пока нет точного ответа.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40080" y="5020056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3" descr="/home/claude/erc-bot/png/databas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648" y="5086624"/>
            <a:ext cx="378927" cy="37892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25880" y="4992624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базой знаний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325880" y="5312664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Ответы можно дополнять и редактировать без участия разработчиков.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5989320" y="128016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Скриншот: интерфейс админки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5989320" y="1627632"/>
            <a:ext cx="5577840" cy="4572000"/>
          </a:xfrm>
          <a:prstGeom prst="roundRect">
            <a:avLst>
              <a:gd name="adj" fmla="val 1600"/>
            </a:avLst>
          </a:prstGeom>
          <a:solidFill>
            <a:srgbClr val="F1F3FA"/>
          </a:solidFill>
          <a:ln w="19050">
            <a:solidFill>
              <a:srgbClr val="AFB9D9"/>
            </a:solidFill>
            <a:prstDash val="dash"/>
          </a:ln>
        </p:spPr>
      </p:sp>
      <p:sp>
        <p:nvSpPr>
          <p:cNvPr id="22" name="Shape 16"/>
          <p:cNvSpPr/>
          <p:nvPr/>
        </p:nvSpPr>
        <p:spPr>
          <a:xfrm>
            <a:off x="8458200" y="3346704"/>
            <a:ext cx="6400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AFB9D9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8677656" y="3465576"/>
            <a:ext cx="201168" cy="201168"/>
          </a:xfrm>
          <a:prstGeom prst="ellipse">
            <a:avLst/>
          </a:prstGeom>
          <a:solidFill>
            <a:srgbClr val="F1F3FA"/>
          </a:solidFill>
          <a:ln w="15875">
            <a:solidFill>
              <a:srgbClr val="AFB9D9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6172200" y="386791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Вставьте скриншот списка заявок / админ-панели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Астана-ЕРЦ · AI-бот поддержки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Работа с поставщиками и менеджерами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Единая база вместо разрозненных таблиц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erc-bot/png/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" y="1751076"/>
            <a:ext cx="338328" cy="3383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673352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поставщиков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80160" y="196596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организации собраны в единой системе.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" y="26060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/home/claude/erc-bot/png/searc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" y="2665476"/>
            <a:ext cx="338328" cy="3383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2587752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по названию и коду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280160" y="288036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Быстрый поиск нужного поставщика за секунды.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40080" y="35204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/home/claude/erc-bot/png/sor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" y="3579876"/>
            <a:ext cx="338328" cy="33832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3502152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Сортировка по менеджерам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280160" y="379476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Удобная группировка организаций по ответственным менеджерам.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40080" y="44348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3" descr="/home/claude/erc-bot/png/edi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" y="4494276"/>
            <a:ext cx="338328" cy="33832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80160" y="4416552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Редактирование организаций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280160" y="470916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организаций и менеджеров можно обновлять прямо в системе.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40080" y="5458968"/>
            <a:ext cx="5029200" cy="640080"/>
          </a:xfrm>
          <a:prstGeom prst="roundRect">
            <a:avLst>
              <a:gd name="adj" fmla="val 14286"/>
            </a:avLst>
          </a:prstGeom>
          <a:solidFill>
            <a:srgbClr val="EEF2FB"/>
          </a:solidFill>
          <a:ln w="9525">
            <a:solidFill>
              <a:srgbClr val="E4E8F4"/>
            </a:solidFill>
            <a:prstDash val="solid"/>
          </a:ln>
          <a:effectLst>
            <a:outerShdw sx="100000" sy="100000" kx="0" ky="0" algn="bl" rotWithShape="0" blurRad="63500" dist="38100" dir="2700000">
              <a:srgbClr val="0B1130">
                <a:alpha val="6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786384" y="5568696"/>
            <a:ext cx="420624" cy="420624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2" name="Image 4" descr="/home/claude/erc-bot/png/phon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065" y="5623377"/>
            <a:ext cx="311262" cy="31126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335024" y="5495544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 и WhatsApp поддержка показываются только по контексту запроса жителя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5989320" y="128016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Скриншот: база поставщиков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5989320" y="1627632"/>
            <a:ext cx="5577840" cy="4572000"/>
          </a:xfrm>
          <a:prstGeom prst="roundRect">
            <a:avLst>
              <a:gd name="adj" fmla="val 1600"/>
            </a:avLst>
          </a:prstGeom>
          <a:solidFill>
            <a:srgbClr val="F1F3FA"/>
          </a:solidFill>
          <a:ln w="19050">
            <a:solidFill>
              <a:srgbClr val="AFB9D9"/>
            </a:solidFill>
            <a:prstDash val="dash"/>
          </a:ln>
        </p:spPr>
      </p:sp>
      <p:sp>
        <p:nvSpPr>
          <p:cNvPr id="26" name="Shape 19"/>
          <p:cNvSpPr/>
          <p:nvPr/>
        </p:nvSpPr>
        <p:spPr>
          <a:xfrm>
            <a:off x="8458200" y="3346704"/>
            <a:ext cx="6400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AFB9D9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8677656" y="3465576"/>
            <a:ext cx="201168" cy="201168"/>
          </a:xfrm>
          <a:prstGeom prst="ellipse">
            <a:avLst/>
          </a:prstGeom>
          <a:solidFill>
            <a:srgbClr val="F1F3FA"/>
          </a:solidFill>
          <a:ln w="15875">
            <a:solidFill>
              <a:srgbClr val="AFB9D9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6172200" y="386791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Вставьте скриншот списка поставщиков / менеджеров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Астана-ЕРЦ · AI-бот поддержки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45752" y="-2194560"/>
            <a:ext cx="4572000" cy="45720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уже готово в MVP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11556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 реализован и готов к демонстрации и пилотному запуску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47472" cy="347472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6" name="Image 0" descr="/home/claude/erc-bot/png/check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251" y="1965411"/>
            <a:ext cx="257129" cy="25712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5568" y="1874520"/>
            <a:ext cx="4782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Ответы по базе знаний с поиском по смыслу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172200" y="1920240"/>
            <a:ext cx="347472" cy="347472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9" name="Image 1" descr="/home/claude/erc-bot/png/chec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371" y="1965411"/>
            <a:ext cx="257129" cy="25712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647688" y="1874520"/>
            <a:ext cx="4782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Короткие ответы и быстрые уточняющие вопросы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2487168"/>
            <a:ext cx="347472" cy="347472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2" name="Image 2" descr="/home/claude/erc-bot/png/check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251" y="2532339"/>
            <a:ext cx="257129" cy="25712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15568" y="2441448"/>
            <a:ext cx="4782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 корректировки показаний счётчиков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6172200" y="2487168"/>
            <a:ext cx="347472" cy="347472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5" name="Image 3" descr="/home/claude/erc-bot/png/check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371" y="2532339"/>
            <a:ext cx="257129" cy="25712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647688" y="2441448"/>
            <a:ext cx="4782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 обращения с загрузкой файлов</a:t>
            </a:r>
            <a:endParaRPr lang="en-US" sz="1350" dirty="0"/>
          </a:p>
        </p:txBody>
      </p:sp>
      <p:sp>
        <p:nvSpPr>
          <p:cNvPr id="17" name="Shape 11"/>
          <p:cNvSpPr/>
          <p:nvPr/>
        </p:nvSpPr>
        <p:spPr>
          <a:xfrm>
            <a:off x="640080" y="3054096"/>
            <a:ext cx="347472" cy="347472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8" name="Image 4" descr="/home/claude/erc-bot/png/check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251" y="3099267"/>
            <a:ext cx="257129" cy="257129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115568" y="3008376"/>
            <a:ext cx="4782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 записи к руководству</a:t>
            </a:r>
            <a:endParaRPr lang="en-US" sz="1350" dirty="0"/>
          </a:p>
        </p:txBody>
      </p:sp>
      <p:sp>
        <p:nvSpPr>
          <p:cNvPr id="20" name="Shape 13"/>
          <p:cNvSpPr/>
          <p:nvPr/>
        </p:nvSpPr>
        <p:spPr>
          <a:xfrm>
            <a:off x="6172200" y="3054096"/>
            <a:ext cx="347472" cy="347472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1" name="Image 5" descr="/home/claude/erc-bot/png/check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371" y="3099267"/>
            <a:ext cx="257129" cy="257129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647688" y="3008376"/>
            <a:ext cx="4782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Админка с тремя категориями заявок</a:t>
            </a:r>
            <a:endParaRPr lang="en-US" sz="1350" dirty="0"/>
          </a:p>
        </p:txBody>
      </p:sp>
      <p:sp>
        <p:nvSpPr>
          <p:cNvPr id="23" name="Shape 15"/>
          <p:cNvSpPr/>
          <p:nvPr/>
        </p:nvSpPr>
        <p:spPr>
          <a:xfrm>
            <a:off x="640080" y="3621024"/>
            <a:ext cx="347472" cy="347472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4" name="Image 6" descr="/home/claude/erc-bot/png/check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251" y="3666195"/>
            <a:ext cx="257129" cy="257129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115568" y="3575304"/>
            <a:ext cx="4782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диалогов по каждому обращению</a:t>
            </a:r>
            <a:endParaRPr lang="en-US" sz="1350" dirty="0"/>
          </a:p>
        </p:txBody>
      </p:sp>
      <p:sp>
        <p:nvSpPr>
          <p:cNvPr id="26" name="Shape 17"/>
          <p:cNvSpPr/>
          <p:nvPr/>
        </p:nvSpPr>
        <p:spPr>
          <a:xfrm>
            <a:off x="6172200" y="3621024"/>
            <a:ext cx="347472" cy="347472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7" name="Image 7" descr="/home/claude/erc-bot/png/check_nav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371" y="3666195"/>
            <a:ext cx="257129" cy="257129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6647688" y="3575304"/>
            <a:ext cx="4782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Фиксация вопросов без точного ответа</a:t>
            </a:r>
            <a:endParaRPr lang="en-US" sz="1350" dirty="0"/>
          </a:p>
        </p:txBody>
      </p:sp>
      <p:sp>
        <p:nvSpPr>
          <p:cNvPr id="29" name="Shape 19"/>
          <p:cNvSpPr/>
          <p:nvPr/>
        </p:nvSpPr>
        <p:spPr>
          <a:xfrm>
            <a:off x="640080" y="4187952"/>
            <a:ext cx="347472" cy="347472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0" name="Image 8" descr="/home/claude/erc-bot/png/check_nav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251" y="4233123"/>
            <a:ext cx="257129" cy="257129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1115568" y="4142232"/>
            <a:ext cx="4782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базой знаний</a:t>
            </a:r>
            <a:endParaRPr lang="en-US" sz="1350" dirty="0"/>
          </a:p>
        </p:txBody>
      </p:sp>
      <p:sp>
        <p:nvSpPr>
          <p:cNvPr id="32" name="Shape 21"/>
          <p:cNvSpPr/>
          <p:nvPr/>
        </p:nvSpPr>
        <p:spPr>
          <a:xfrm>
            <a:off x="6172200" y="4187952"/>
            <a:ext cx="347472" cy="347472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3" name="Image 9" descr="/home/claude/erc-bot/png/check_nav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7371" y="4233123"/>
            <a:ext cx="257129" cy="257129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6647688" y="4142232"/>
            <a:ext cx="4782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поставщиков с поиском и сортировкой</a:t>
            </a:r>
            <a:endParaRPr lang="en-US" sz="1350" dirty="0"/>
          </a:p>
        </p:txBody>
      </p:sp>
      <p:sp>
        <p:nvSpPr>
          <p:cNvPr id="35" name="Shape 23"/>
          <p:cNvSpPr/>
          <p:nvPr/>
        </p:nvSpPr>
        <p:spPr>
          <a:xfrm>
            <a:off x="640080" y="4754880"/>
            <a:ext cx="347472" cy="347472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6" name="Image 10" descr="/home/claude/erc-bot/png/check_navy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251" y="4800051"/>
            <a:ext cx="257129" cy="257129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1115568" y="4709160"/>
            <a:ext cx="4782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Редактирование организаций и менеджеров</a:t>
            </a:r>
            <a:endParaRPr lang="en-US" sz="1350" dirty="0"/>
          </a:p>
        </p:txBody>
      </p:sp>
      <p:sp>
        <p:nvSpPr>
          <p:cNvPr id="38" name="Shape 25"/>
          <p:cNvSpPr/>
          <p:nvPr/>
        </p:nvSpPr>
        <p:spPr>
          <a:xfrm>
            <a:off x="6172200" y="4754880"/>
            <a:ext cx="347472" cy="347472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9" name="Image 11" descr="/home/claude/erc-bot/png/check_navy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17371" y="4800051"/>
            <a:ext cx="257129" cy="257129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6647688" y="4709160"/>
            <a:ext cx="4782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Логика показа контактов 109 и WhatsApp</a:t>
            </a:r>
            <a:endParaRPr lang="en-US" sz="1350" dirty="0"/>
          </a:p>
        </p:txBody>
      </p:sp>
      <p:sp>
        <p:nvSpPr>
          <p:cNvPr id="41" name="Shape 27"/>
          <p:cNvSpPr/>
          <p:nvPr/>
        </p:nvSpPr>
        <p:spPr>
          <a:xfrm>
            <a:off x="640080" y="5212080"/>
            <a:ext cx="10881360" cy="0"/>
          </a:xfrm>
          <a:prstGeom prst="line">
            <a:avLst/>
          </a:prstGeom>
          <a:noFill/>
          <a:ln w="12700">
            <a:solidFill>
              <a:srgbClr val="32398A"/>
            </a:solidFill>
            <a:prstDash val="solid"/>
          </a:ln>
        </p:spPr>
      </p:sp>
      <p:sp>
        <p:nvSpPr>
          <p:cNvPr id="42" name="Shape 28"/>
          <p:cNvSpPr/>
          <p:nvPr/>
        </p:nvSpPr>
        <p:spPr>
          <a:xfrm>
            <a:off x="640080" y="5440680"/>
            <a:ext cx="457200" cy="457200"/>
          </a:xfrm>
          <a:prstGeom prst="ellipse">
            <a:avLst/>
          </a:prstGeom>
          <a:solidFill>
            <a:srgbClr val="2FAE6A"/>
          </a:solidFill>
          <a:ln/>
        </p:spPr>
      </p:sp>
      <p:pic>
        <p:nvPicPr>
          <p:cNvPr id="43" name="Image 12" descr="/home/claude/erc-bot/png/rocket_navy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9516" y="5500116"/>
            <a:ext cx="338328" cy="338328"/>
          </a:xfrm>
          <a:prstGeom prst="rect">
            <a:avLst/>
          </a:prstGeom>
        </p:spPr>
      </p:pic>
      <p:sp>
        <p:nvSpPr>
          <p:cNvPr id="44" name="Text 29"/>
          <p:cNvSpPr/>
          <p:nvPr/>
        </p:nvSpPr>
        <p:spPr>
          <a:xfrm>
            <a:off x="1234440" y="5458968"/>
            <a:ext cx="8686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Статус: MVP готов к демонстрации и пилотному запуску</a:t>
            </a:r>
            <a:endParaRPr lang="en-US" sz="1400" dirty="0"/>
          </a:p>
        </p:txBody>
      </p:sp>
      <p:sp>
        <p:nvSpPr>
          <p:cNvPr id="45" name="Text 3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9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Астана-ЕРЦ · AI-бот поддержки</a:t>
            </a:r>
            <a:endParaRPr lang="en-US" sz="900" dirty="0"/>
          </a:p>
        </p:txBody>
      </p:sp>
      <p:sp>
        <p:nvSpPr>
          <p:cNvPr id="46" name="Text 31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Дальнейшие шаги развития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будет масштабироваться проект после пилота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56432" cy="2103120"/>
          </a:xfrm>
          <a:prstGeom prst="roundRect">
            <a:avLst>
              <a:gd name="adj" fmla="val 5217"/>
            </a:avLst>
          </a:prstGeom>
          <a:solidFill>
            <a:srgbClr val="F7F8FC"/>
          </a:solidFill>
          <a:ln w="9525">
            <a:solidFill>
              <a:srgbClr val="E4E8F4"/>
            </a:solidFill>
            <a:prstDash val="solid"/>
          </a:ln>
          <a:effectLst>
            <a:outerShdw sx="100000" sy="100000" kx="0" ky="0" algn="bl" rotWithShape="0" blurRad="88900" dist="38100" dir="2700000">
              <a:srgbClr val="0B113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74720" y="187452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/home/claude/erc-bot/png/rock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9401" y="1929201"/>
            <a:ext cx="311262" cy="31126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2441448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Пилотный запуск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2898648"/>
            <a:ext cx="3090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Тестирование на ограниченной группе жителей и сотрудников, сбор обратной связи.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61104" y="1691640"/>
            <a:ext cx="3456432" cy="2103120"/>
          </a:xfrm>
          <a:prstGeom prst="roundRect">
            <a:avLst>
              <a:gd name="adj" fmla="val 5217"/>
            </a:avLst>
          </a:prstGeom>
          <a:solidFill>
            <a:srgbClr val="F7F8FC"/>
          </a:solidFill>
          <a:ln w="9525">
            <a:solidFill>
              <a:srgbClr val="E4E8F4"/>
            </a:solidFill>
            <a:prstDash val="solid"/>
          </a:ln>
          <a:effectLst>
            <a:outerShdw sx="100000" sy="100000" kx="0" ky="0" algn="bl" rotWithShape="0" blurRad="88900" dist="38100" dir="2700000">
              <a:srgbClr val="0B113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43984" y="1874520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3" name="Text 10"/>
          <p:cNvSpPr/>
          <p:nvPr/>
        </p:nvSpPr>
        <p:spPr>
          <a:xfrm>
            <a:off x="4443984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095744" y="187452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1" descr="/home/claude/erc-bot/png/glob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0425" y="1929201"/>
            <a:ext cx="311262" cy="31126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443984" y="2441448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Подключение к сайту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443984" y="2898648"/>
            <a:ext cx="3090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Размещение бота на официальном сайте Астана-ЕРЦ.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7882128" y="1691640"/>
            <a:ext cx="3456432" cy="2103120"/>
          </a:xfrm>
          <a:prstGeom prst="roundRect">
            <a:avLst>
              <a:gd name="adj" fmla="val 5217"/>
            </a:avLst>
          </a:prstGeom>
          <a:solidFill>
            <a:srgbClr val="F7F8FC"/>
          </a:solidFill>
          <a:ln w="9525">
            <a:solidFill>
              <a:srgbClr val="E4E8F4"/>
            </a:solidFill>
            <a:prstDash val="solid"/>
          </a:ln>
          <a:effectLst>
            <a:outerShdw sx="100000" sy="100000" kx="0" ky="0" algn="bl" rotWithShape="0" blurRad="88900" dist="38100" dir="2700000">
              <a:srgbClr val="0B113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065008" y="1874520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0" name="Text 16"/>
          <p:cNvSpPr/>
          <p:nvPr/>
        </p:nvSpPr>
        <p:spPr>
          <a:xfrm>
            <a:off x="8065008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10716768" y="187452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2" descr="/home/claude/erc-bot/png/whatsapp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449" y="1929201"/>
            <a:ext cx="311262" cy="31126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065008" y="2441448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в WhatsApp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8065008" y="2898648"/>
            <a:ext cx="3090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к боту в привычном для жителей канале связи.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40080" y="3977640"/>
            <a:ext cx="3456432" cy="2103120"/>
          </a:xfrm>
          <a:prstGeom prst="roundRect">
            <a:avLst>
              <a:gd name="adj" fmla="val 5217"/>
            </a:avLst>
          </a:prstGeom>
          <a:solidFill>
            <a:srgbClr val="F7F8FC"/>
          </a:solidFill>
          <a:ln w="9525">
            <a:solidFill>
              <a:srgbClr val="E4E8F4"/>
            </a:solidFill>
            <a:prstDash val="solid"/>
          </a:ln>
          <a:effectLst>
            <a:outerShdw sx="100000" sy="100000" kx="0" ky="0" algn="bl" rotWithShape="0" blurRad="88900" dist="38100" dir="2700000">
              <a:srgbClr val="0B1130">
                <a:alpha val="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822960" y="4160520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7" name="Text 22"/>
          <p:cNvSpPr/>
          <p:nvPr/>
        </p:nvSpPr>
        <p:spPr>
          <a:xfrm>
            <a:off x="822960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3474720" y="416052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9" name="Image 3" descr="/home/claude/erc-bot/png/telegram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9401" y="4215201"/>
            <a:ext cx="311262" cy="31126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822960" y="4727448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в Telegram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822960" y="5184648"/>
            <a:ext cx="3090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Расширение присутствия бота на ещё один популярный канал.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4261104" y="3977640"/>
            <a:ext cx="3456432" cy="2103120"/>
          </a:xfrm>
          <a:prstGeom prst="roundRect">
            <a:avLst>
              <a:gd name="adj" fmla="val 5217"/>
            </a:avLst>
          </a:prstGeom>
          <a:solidFill>
            <a:srgbClr val="F7F8FC"/>
          </a:solidFill>
          <a:ln w="9525">
            <a:solidFill>
              <a:srgbClr val="E4E8F4"/>
            </a:solidFill>
            <a:prstDash val="solid"/>
          </a:ln>
          <a:effectLst>
            <a:outerShdw sx="100000" sy="100000" kx="0" ky="0" algn="bl" rotWithShape="0" blurRad="88900" dist="38100" dir="2700000">
              <a:srgbClr val="0B1130">
                <a:alpha val="8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4443984" y="4160520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4" name="Text 28"/>
          <p:cNvSpPr/>
          <p:nvPr/>
        </p:nvSpPr>
        <p:spPr>
          <a:xfrm>
            <a:off x="4443984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Shape 29"/>
          <p:cNvSpPr/>
          <p:nvPr/>
        </p:nvSpPr>
        <p:spPr>
          <a:xfrm>
            <a:off x="7095744" y="416052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6" name="Image 4" descr="/home/claude/erc-bot/png/cogs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0425" y="4215201"/>
            <a:ext cx="311262" cy="311262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4443984" y="4727448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Автоматизация внутренних процессов</a:t>
            </a:r>
            <a:endParaRPr lang="en-US" sz="1400" dirty="0"/>
          </a:p>
        </p:txBody>
      </p:sp>
      <p:sp>
        <p:nvSpPr>
          <p:cNvPr id="38" name="Text 31"/>
          <p:cNvSpPr/>
          <p:nvPr/>
        </p:nvSpPr>
        <p:spPr>
          <a:xfrm>
            <a:off x="4443984" y="5184648"/>
            <a:ext cx="3090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Использование платформы для внутренних задач и процессов компании.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7882128" y="3977640"/>
            <a:ext cx="3456432" cy="2103120"/>
          </a:xfrm>
          <a:prstGeom prst="roundRect">
            <a:avLst>
              <a:gd name="adj" fmla="val 5217"/>
            </a:avLst>
          </a:prstGeom>
          <a:solidFill>
            <a:srgbClr val="F7F8FC"/>
          </a:solidFill>
          <a:ln w="9525">
            <a:solidFill>
              <a:srgbClr val="E4E8F4"/>
            </a:solidFill>
            <a:prstDash val="solid"/>
          </a:ln>
          <a:effectLst>
            <a:outerShdw sx="100000" sy="100000" kx="0" ky="0" algn="bl" rotWithShape="0" blurRad="88900" dist="38100" dir="2700000">
              <a:srgbClr val="0B1130">
                <a:alpha val="8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8065008" y="4160520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41" name="Text 34"/>
          <p:cNvSpPr/>
          <p:nvPr/>
        </p:nvSpPr>
        <p:spPr>
          <a:xfrm>
            <a:off x="8065008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10716768" y="416052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3" name="Image 5" descr="/home/claude/erc-bot/png/chartbar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71449" y="4215201"/>
            <a:ext cx="311262" cy="311262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8065008" y="4727448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 и развитие базы знаний</a:t>
            </a:r>
            <a:endParaRPr lang="en-US" sz="1400" dirty="0"/>
          </a:p>
        </p:txBody>
      </p:sp>
      <p:sp>
        <p:nvSpPr>
          <p:cNvPr id="45" name="Text 37"/>
          <p:cNvSpPr/>
          <p:nvPr/>
        </p:nvSpPr>
        <p:spPr>
          <a:xfrm>
            <a:off x="8065008" y="5184648"/>
            <a:ext cx="3090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Постоянное дополнение базы на основе зафиксированных вопросов без ответа.</a:t>
            </a:r>
            <a:endParaRPr lang="en-US" sz="1100" dirty="0"/>
          </a:p>
        </p:txBody>
      </p:sp>
      <p:sp>
        <p:nvSpPr>
          <p:cNvPr id="46" name="Text 3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Астана-ЕРЦ · AI-бот поддержки</a:t>
            </a:r>
            <a:endParaRPr lang="en-US" sz="900" dirty="0"/>
          </a:p>
        </p:txBody>
      </p:sp>
      <p:sp>
        <p:nvSpPr>
          <p:cNvPr id="47" name="Text 39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AI-бот поддержки — MVP</dc:title>
  <dc:subject>PptxGenJS Presentation</dc:subject>
  <dc:creator>Astana-ERC</dc:creator>
  <cp:lastModifiedBy>Astana-ERC</cp:lastModifiedBy>
  <cp:revision>1</cp:revision>
  <dcterms:created xsi:type="dcterms:W3CDTF">2026-06-26T11:02:37Z</dcterms:created>
  <dcterms:modified xsi:type="dcterms:W3CDTF">2026-06-26T11:02:37Z</dcterms:modified>
</cp:coreProperties>
</file>